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731520" cy="54864"/>
          </a:xfrm>
          <a:prstGeom prst="rect">
            <a:avLst/>
          </a:prstGeom>
          <a:solidFill>
            <a:srgbClr val="C298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80160"/>
            <a:ext cx="10698480" cy="365760"/>
          </a:xfrm>
          <a:prstGeom prst="rect">
            <a:avLst/>
          </a:prstGeom>
          <a:noFill/>
        </p:spPr>
        <p:txBody>
          <a:bodyPr wrap="none">
            <a:spAutoFit/>
          </a:bodyPr>
          <a:lstStyle/>
          <a:p>
            <a:pPr>
              <a:defRPr sz="1300" b="1">
                <a:solidFill>
                  <a:srgbClr val="C2985B"/>
                </a:solidFill>
                <a:latin typeface="Segoe UI"/>
              </a:defRPr>
            </a:pPr>
            <a:r>
              <a:t>BÁO CÁO TIẾN ĐỘ ĐỒ ÁN TỐT NGHIỆP — HỌC KỲ I (2026)</a:t>
            </a:r>
          </a:p>
        </p:txBody>
      </p:sp>
      <p:sp>
        <p:nvSpPr>
          <p:cNvPr id="5" name="TextBox 4"/>
          <p:cNvSpPr txBox="1"/>
          <p:nvPr/>
        </p:nvSpPr>
        <p:spPr>
          <a:xfrm>
            <a:off x="731520" y="1691640"/>
            <a:ext cx="10698480" cy="1828800"/>
          </a:xfrm>
          <a:prstGeom prst="rect">
            <a:avLst/>
          </a:prstGeom>
          <a:noFill/>
        </p:spPr>
        <p:txBody>
          <a:bodyPr wrap="square">
            <a:spAutoFit/>
          </a:bodyPr>
          <a:lstStyle/>
          <a:p>
            <a:pPr>
              <a:defRPr sz="3200" b="1">
                <a:solidFill>
                  <a:srgbClr val="FFFFFF"/>
                </a:solidFill>
                <a:latin typeface="Segoe UI"/>
              </a:defRPr>
            </a:pPr>
            <a:r>
              <a:t>Nền Tảng Thương Mại Điện Tử Thời Trang May Sẵn N&amp;B</a:t>
            </a:r>
            <a:br/>
            <a:r>
              <a:t>Tích Hợp Thử Đồ 3D &amp; Vận Hành Logistics</a:t>
            </a:r>
          </a:p>
        </p:txBody>
      </p:sp>
      <p:sp>
        <p:nvSpPr>
          <p:cNvPr id="6" name="TextBox 5"/>
          <p:cNvSpPr txBox="1"/>
          <p:nvPr/>
        </p:nvSpPr>
        <p:spPr>
          <a:xfrm>
            <a:off x="731520" y="3566160"/>
            <a:ext cx="10698480" cy="731520"/>
          </a:xfrm>
          <a:prstGeom prst="rect">
            <a:avLst/>
          </a:prstGeom>
          <a:noFill/>
        </p:spPr>
        <p:txBody>
          <a:bodyPr wrap="square">
            <a:spAutoFit/>
          </a:bodyPr>
          <a:lstStyle/>
          <a:p>
            <a:pPr>
              <a:defRPr sz="1400">
                <a:solidFill>
                  <a:srgbClr val="9CA3AF"/>
                </a:solidFill>
                <a:latin typeface="Segoe UI"/>
              </a:defRPr>
            </a:pPr>
            <a:r>
              <a:t>Nghiên cứu ứng dụng đồ họa 3D thời gian thực trên Web và chuẩn hóa luồng giao vận bưu phẩm tự động trong thương mại điện tử thời trang cao cấp.</a:t>
            </a:r>
          </a:p>
        </p:txBody>
      </p:sp>
      <p:sp>
        <p:nvSpPr>
          <p:cNvPr id="7" name="Rounded Rectangle 6"/>
          <p:cNvSpPr/>
          <p:nvPr/>
        </p:nvSpPr>
        <p:spPr>
          <a:xfrm>
            <a:off x="731520" y="4663440"/>
            <a:ext cx="4114800" cy="1371600"/>
          </a:xfrm>
          <a:prstGeom prst="roundRect">
            <a:avLst/>
          </a:prstGeom>
          <a:solidFill>
            <a:srgbClr val="232733"/>
          </a:solidFill>
          <a:ln>
            <a:solidFill>
              <a:srgbClr val="374151"/>
            </a:solidFill>
          </a:ln>
        </p:spPr>
        <p:style>
          <a:lnRef idx="1">
            <a:schemeClr val="accent1"/>
          </a:lnRef>
          <a:fillRef idx="3">
            <a:schemeClr val="accent1"/>
          </a:fillRef>
          <a:effectRef idx="2">
            <a:schemeClr val="accent1"/>
          </a:effectRef>
          <a:fontRef idx="minor">
            <a:schemeClr val="lt1"/>
          </a:fontRef>
        </p:style>
        <p:txBody>
          <a:bodyPr rtlCol="0" anchor="ctr" lIns="274320" tIns="228600"/>
          <a:lstStyle/>
          <a:p>
            <a:pPr algn="ctr">
              <a:defRPr sz="1100" b="1">
                <a:solidFill>
                  <a:srgbClr val="C2985B"/>
                </a:solidFill>
              </a:defRPr>
            </a:pPr>
            <a:r>
              <a:t>GIẢNG VIÊN HƯỚNG DẪN</a:t>
            </a:r>
          </a:p>
          <a:p>
            <a:pPr>
              <a:defRPr sz="1800" b="1">
                <a:solidFill>
                  <a:srgbClr val="FFFFFF"/>
                </a:solidFill>
              </a:defRPr>
            </a:pPr>
            <a:r>
              <a:t>ThS. Võ Anh Tiến</a:t>
            </a:r>
          </a:p>
        </p:txBody>
      </p:sp>
      <p:sp>
        <p:nvSpPr>
          <p:cNvPr id="8" name="Rounded Rectangle 7"/>
          <p:cNvSpPr/>
          <p:nvPr/>
        </p:nvSpPr>
        <p:spPr>
          <a:xfrm>
            <a:off x="5120640" y="4663440"/>
            <a:ext cx="6309360" cy="1371600"/>
          </a:xfrm>
          <a:prstGeom prst="roundRect">
            <a:avLst/>
          </a:prstGeom>
          <a:solidFill>
            <a:srgbClr val="232733"/>
          </a:solidFill>
          <a:ln>
            <a:solidFill>
              <a:srgbClr val="374151"/>
            </a:solidFill>
          </a:ln>
        </p:spPr>
        <p:style>
          <a:lnRef idx="1">
            <a:schemeClr val="accent1"/>
          </a:lnRef>
          <a:fillRef idx="3">
            <a:schemeClr val="accent1"/>
          </a:fillRef>
          <a:effectRef idx="2">
            <a:schemeClr val="accent1"/>
          </a:effectRef>
          <a:fontRef idx="minor">
            <a:schemeClr val="lt1"/>
          </a:fontRef>
        </p:style>
        <p:txBody>
          <a:bodyPr rtlCol="0" anchor="ctr" lIns="274320" tIns="228600"/>
          <a:lstStyle/>
          <a:p>
            <a:pPr algn="ctr">
              <a:defRPr sz="1100" b="1">
                <a:solidFill>
                  <a:srgbClr val="C2985B"/>
                </a:solidFill>
              </a:defRPr>
            </a:pPr>
            <a:r>
              <a:t>NHÓM SINH VIÊN THỰC HIỆN</a:t>
            </a:r>
          </a:p>
          <a:p>
            <a:pPr>
              <a:defRPr sz="1800" b="1">
                <a:solidFill>
                  <a:srgbClr val="FFFFFF"/>
                </a:solidFill>
              </a:defRPr>
            </a:pPr>
            <a:r>
              <a:t>Võ Minh Nhật  &amp;  Phạm Lê Gia Bảo</a:t>
            </a:r>
          </a:p>
          <a:p>
            <a:pPr>
              <a:defRPr sz="1200">
                <a:solidFill>
                  <a:srgbClr val="9CA3AF"/>
                </a:solidFill>
              </a:defRPr>
            </a:pPr>
            <a:r>
              <a:t>Đề tài Đồ án Tốt nghiệp — Báo cáo tiến độ: 29/10/2026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1E3A8A"/>
                </a:solidFill>
                <a:latin typeface="Segoe UI"/>
              </a:defRPr>
            </a:pPr>
            <a:r>
              <a:t>01. BỐI CẢNH &amp; MỤC TIÊU ĐỀ TÀI</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111827"/>
                </a:solidFill>
                <a:latin typeface="Segoe UI"/>
              </a:defRPr>
            </a:pPr>
            <a:r>
              <a:t>Thực Trạng Ngành Thời Trang TMĐT &amp; Định Vị N&amp;B Atelier</a:t>
            </a:r>
          </a:p>
        </p:txBody>
      </p:sp>
      <p:sp>
        <p:nvSpPr>
          <p:cNvPr id="5" name="Rounded Rectangle 4"/>
          <p:cNvSpPr/>
          <p:nvPr/>
        </p:nvSpPr>
        <p:spPr>
          <a:xfrm>
            <a:off x="731520" y="1645920"/>
            <a:ext cx="33832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200" b="1">
                <a:solidFill>
                  <a:srgbClr val="DC2626"/>
                </a:solidFill>
              </a:defRPr>
            </a:pPr>
            <a:r>
              <a:t>THÁCH THỨC CỦA TMĐT</a:t>
            </a:r>
          </a:p>
          <a:p>
            <a:pPr>
              <a:defRPr sz="1800" b="1">
                <a:solidFill>
                  <a:srgbClr val="111827"/>
                </a:solidFill>
              </a:defRPr>
            </a:pPr>
            <a:r>
              <a:t>Rào cản hình dung &amp; đổi trả</a:t>
            </a:r>
          </a:p>
          <a:p>
            <a:pPr>
              <a:defRPr sz="1300">
                <a:solidFill>
                  <a:srgbClr val="6B7280"/>
                </a:solidFill>
              </a:defRPr>
            </a:pPr>
            <a:r>
              <a:t>• Tỷ lệ hoàn hàng cao (30-40%): Do khách không biết mặc lên người trông ra sao và chọn nhầm size.</a:t>
            </a:r>
          </a:p>
          <a:p>
            <a:pPr>
              <a:defRPr sz="1300">
                <a:solidFill>
                  <a:srgbClr val="6B7280"/>
                </a:solidFill>
              </a:defRPr>
            </a:pPr>
            <a:r>
              <a:t>• Thiếu trải nghiệm chân thực: Ảnh 2D tĩnh không thể hiện được độ rủ của vải, phom dáng và sự vừa vặn.</a:t>
            </a:r>
          </a:p>
          <a:p>
            <a:pPr>
              <a:defRPr sz="1300">
                <a:solidFill>
                  <a:srgbClr val="6B7280"/>
                </a:solidFill>
              </a:defRPr>
            </a:pPr>
            <a:r>
              <a:t>• Đứt gãy quy trình vận hành: Các shop nhỏ thường thủ công trong khâu tạo vận đơn và in phiếu đóng hàng.</a:t>
            </a:r>
          </a:p>
        </p:txBody>
      </p:sp>
      <p:sp>
        <p:nvSpPr>
          <p:cNvPr id="6" name="Rounded Rectangle 5"/>
          <p:cNvSpPr/>
          <p:nvPr/>
        </p:nvSpPr>
        <p:spPr>
          <a:xfrm>
            <a:off x="4389120" y="1645920"/>
            <a:ext cx="3383280" cy="4480560"/>
          </a:xfrm>
          <a:prstGeom prst="roundRect">
            <a:avLst/>
          </a:prstGeom>
          <a:solidFill>
            <a:srgbClr val="FFFFFF"/>
          </a:solidFill>
          <a:ln w="19050">
            <a:solidFill>
              <a:srgbClr val="C2985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200" b="1">
                <a:solidFill>
                  <a:srgbClr val="C2985B"/>
                </a:solidFill>
              </a:defRPr>
            </a:pPr>
            <a:r>
              <a:t>GIẢI PHÁP ĐỀ TÀI</a:t>
            </a:r>
          </a:p>
          <a:p>
            <a:pPr>
              <a:defRPr sz="1800" b="1">
                <a:solidFill>
                  <a:srgbClr val="111827"/>
                </a:solidFill>
              </a:defRPr>
            </a:pPr>
            <a:r>
              <a:t>Trải nghiệm Đột phá N&amp;B</a:t>
            </a:r>
          </a:p>
          <a:p>
            <a:pPr>
              <a:defRPr sz="1300">
                <a:solidFill>
                  <a:srgbClr val="6B7280"/>
                </a:solidFill>
              </a:defRPr>
            </a:pPr>
            <a:r>
              <a:t>• Phòng thử đồ 3D tương tác: Thử trang phục trên avatar 3D theo số đo thực tế ngay trên trình duyệt.</a:t>
            </a:r>
          </a:p>
          <a:p>
            <a:pPr>
              <a:defRPr sz="1300">
                <a:solidFill>
                  <a:srgbClr val="6B7280"/>
                </a:solidFill>
              </a:defRPr>
            </a:pPr>
            <a:r>
              <a:t>• Gợi ý kích cỡ thông minh: Tự động tính toán số đo từ Chiều cao/Cân nặng và so khớp bảng size chuẩn của hãng.</a:t>
            </a:r>
          </a:p>
          <a:p>
            <a:pPr>
              <a:defRPr sz="1300">
                <a:solidFill>
                  <a:srgbClr val="6B7280"/>
                </a:solidFill>
              </a:defRPr>
            </a:pPr>
            <a:r>
              <a:t>• Định vị thời trang cao cấp: Trải nghiệm may sẵn (Ready-to-wear) tinh tế, tối giản, sang trọng.</a:t>
            </a:r>
          </a:p>
        </p:txBody>
      </p:sp>
      <p:sp>
        <p:nvSpPr>
          <p:cNvPr id="7" name="Rounded Rectangle 6"/>
          <p:cNvSpPr/>
          <p:nvPr/>
        </p:nvSpPr>
        <p:spPr>
          <a:xfrm>
            <a:off x="8046720" y="1645920"/>
            <a:ext cx="33832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200" b="1">
                <a:solidFill>
                  <a:srgbClr val="059669"/>
                </a:solidFill>
              </a:defRPr>
            </a:pPr>
            <a:r>
              <a:t>VẬN HÀNH THỰC TẾ</a:t>
            </a:r>
          </a:p>
          <a:p>
            <a:pPr>
              <a:defRPr sz="1800" b="1">
                <a:solidFill>
                  <a:srgbClr val="111827"/>
                </a:solidFill>
              </a:defRPr>
            </a:pPr>
            <a:r>
              <a:t>Tích hợp Giao vận Bưu cục</a:t>
            </a:r>
          </a:p>
          <a:p>
            <a:pPr>
              <a:defRPr sz="1300">
                <a:solidFill>
                  <a:srgbClr val="6B7280"/>
                </a:solidFill>
              </a:defRPr>
            </a:pPr>
            <a:r>
              <a:t>• Kết nối API GHN tự động: 1-click tạo mã vận đơn bưu cục thật, tự động cân đối cước và tiền thu hộ COD.</a:t>
            </a:r>
          </a:p>
          <a:p>
            <a:pPr>
              <a:defRPr sz="1300">
                <a:solidFill>
                  <a:srgbClr val="6B7280"/>
                </a:solidFill>
              </a:defRPr>
            </a:pPr>
            <a:r>
              <a:t>• Phiếu đóng gói &amp; Barcode: In nhãn A4/A5 dán hộp hàng kèm mã vạch và thông tin người gửi/nhận rõ ràng.</a:t>
            </a:r>
          </a:p>
          <a:p>
            <a:pPr>
              <a:defRPr sz="1300">
                <a:solidFill>
                  <a:srgbClr val="6B7280"/>
                </a:solidFill>
              </a:defRPr>
            </a:pPr>
            <a:r>
              <a:t>• Tra cứu hành trình tức thì: Tích hợp link tracking trực tiếp từ hệ thống đối tác giao hàng.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1E3A8A"/>
                </a:solidFill>
                <a:latin typeface="Segoe UI"/>
              </a:defRPr>
            </a:pPr>
            <a:r>
              <a:t>02. KIẾN TRÚC &amp; CÔNG NGHỆ</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111827"/>
                </a:solidFill>
                <a:latin typeface="Segoe UI"/>
              </a:defRPr>
            </a:pPr>
            <a:r>
              <a:t>Ngăn Xếp Công Nghệ Hiện Đại (Modern Tech Stack)</a:t>
            </a:r>
          </a:p>
        </p:txBody>
      </p:sp>
      <p:sp>
        <p:nvSpPr>
          <p:cNvPr id="5" name="Rounded Rectangle 4"/>
          <p:cNvSpPr/>
          <p:nvPr/>
        </p:nvSpPr>
        <p:spPr>
          <a:xfrm>
            <a:off x="731520" y="1645920"/>
            <a:ext cx="24688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1E3A8A"/>
                </a:solidFill>
              </a:defRPr>
            </a:pPr>
            <a:r>
              <a:t>FRONTEND SHOP</a:t>
            </a:r>
          </a:p>
          <a:p>
            <a:pPr>
              <a:defRPr sz="1700" b="1">
                <a:solidFill>
                  <a:srgbClr val="111827"/>
                </a:solidFill>
              </a:defRPr>
            </a:pPr>
            <a:r>
              <a:t>Giao Diện Khách Hàng</a:t>
            </a:r>
          </a:p>
          <a:p>
            <a:pPr>
              <a:defRPr sz="1300" b="1">
                <a:solidFill>
                  <a:srgbClr val="1E3A8A"/>
                </a:solidFill>
              </a:defRPr>
            </a:pPr>
            <a:r>
              <a:t>Cốt lõi: React 19 + Vite</a:t>
            </a:r>
          </a:p>
          <a:p>
            <a:pPr>
              <a:defRPr sz="1200">
                <a:solidFill>
                  <a:srgbClr val="6B7280"/>
                </a:solidFill>
              </a:defRPr>
            </a:pPr>
            <a:r>
              <a:t>✔ Tailwind CSS v4 tối ưu hiệu năng render.</a:t>
            </a:r>
          </a:p>
          <a:p>
            <a:pPr>
              <a:defRPr sz="1200">
                <a:solidFill>
                  <a:srgbClr val="6B7280"/>
                </a:solidFill>
              </a:defRPr>
            </a:pPr>
            <a:r>
              <a:t>✔ React Router 7 xử lý điều hướng mượt mà.</a:t>
            </a:r>
          </a:p>
          <a:p>
            <a:pPr>
              <a:defRPr sz="1200">
                <a:solidFill>
                  <a:srgbClr val="6B7280"/>
                </a:solidFill>
              </a:defRPr>
            </a:pPr>
            <a:r>
              <a:t>✔ Cơ chế Khóa Checkout chống race-condition &amp; double-order.</a:t>
            </a:r>
          </a:p>
          <a:p>
            <a:pPr>
              <a:defRPr sz="1200">
                <a:solidFill>
                  <a:srgbClr val="6B7280"/>
                </a:solidFill>
              </a:defRPr>
            </a:pPr>
            <a:r>
              <a:t>✔ Sổ địa chỉ đa điểm, thanh toán VietQR &amp; COD.</a:t>
            </a:r>
          </a:p>
        </p:txBody>
      </p:sp>
      <p:sp>
        <p:nvSpPr>
          <p:cNvPr id="6" name="Rounded Rectangle 5"/>
          <p:cNvSpPr/>
          <p:nvPr/>
        </p:nvSpPr>
        <p:spPr>
          <a:xfrm>
            <a:off x="3474720" y="1645920"/>
            <a:ext cx="24688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C2985B"/>
                </a:solidFill>
              </a:defRPr>
            </a:pPr>
            <a:r>
              <a:t>VIRTUAL TRY-ON</a:t>
            </a:r>
          </a:p>
          <a:p>
            <a:pPr>
              <a:defRPr sz="1700" b="1">
                <a:solidFill>
                  <a:srgbClr val="111827"/>
                </a:solidFill>
              </a:defRPr>
            </a:pPr>
            <a:r>
              <a:t>Phòng Thử Đồ 3D</a:t>
            </a:r>
          </a:p>
          <a:p>
            <a:pPr>
              <a:defRPr sz="1300" b="1">
                <a:solidFill>
                  <a:srgbClr val="C2985B"/>
                </a:solidFill>
              </a:defRPr>
            </a:pPr>
            <a:r>
              <a:t>Cốt lõi: Three.js + R3F</a:t>
            </a:r>
          </a:p>
          <a:p>
            <a:pPr>
              <a:defRPr sz="1200">
                <a:solidFill>
                  <a:srgbClr val="6B7280"/>
                </a:solidFill>
              </a:defRPr>
            </a:pPr>
            <a:r>
              <a:t>✔ WebGL / Three.js kết hợp @react-three/fiber &amp; drei.</a:t>
            </a:r>
          </a:p>
          <a:p>
            <a:pPr>
              <a:defRPr sz="1200">
                <a:solidFill>
                  <a:srgbClr val="6B7280"/>
                </a:solidFill>
              </a:defRPr>
            </a:pPr>
            <a:r>
              <a:t>✔ Rig biến dạng avatar theo số đo người dùng.</a:t>
            </a:r>
          </a:p>
          <a:p>
            <a:pPr>
              <a:defRPr sz="1200">
                <a:solidFill>
                  <a:srgbClr val="6B7280"/>
                </a:solidFill>
              </a:defRPr>
            </a:pPr>
            <a:r>
              <a:t>✔ Hệ thống texture UV nén WebP siêu nhẹ 640px.</a:t>
            </a:r>
          </a:p>
          <a:p>
            <a:pPr>
              <a:defRPr sz="1200">
                <a:solidFill>
                  <a:srgbClr val="6B7280"/>
                </a:solidFill>
              </a:defRPr>
            </a:pPr>
            <a:r>
              <a:t>✔ Tương thích mô hình nữ (F2) &amp; nam (M1).</a:t>
            </a:r>
          </a:p>
        </p:txBody>
      </p:sp>
      <p:sp>
        <p:nvSpPr>
          <p:cNvPr id="7" name="Rounded Rectangle 6"/>
          <p:cNvSpPr/>
          <p:nvPr/>
        </p:nvSpPr>
        <p:spPr>
          <a:xfrm>
            <a:off x="6217920" y="1645920"/>
            <a:ext cx="24688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2563EB"/>
                </a:solidFill>
              </a:defRPr>
            </a:pPr>
            <a:r>
              <a:t>BACKEND API</a:t>
            </a:r>
          </a:p>
          <a:p>
            <a:pPr>
              <a:defRPr sz="1700" b="1">
                <a:solidFill>
                  <a:srgbClr val="111827"/>
                </a:solidFill>
              </a:defRPr>
            </a:pPr>
            <a:r>
              <a:t>Máy Chủ Nghiệp Vụ</a:t>
            </a:r>
          </a:p>
          <a:p>
            <a:pPr>
              <a:defRPr sz="1300" b="1">
                <a:solidFill>
                  <a:srgbClr val="2563EB"/>
                </a:solidFill>
              </a:defRPr>
            </a:pPr>
            <a:r>
              <a:t>Cốt lõi: FastAPI + Python</a:t>
            </a:r>
          </a:p>
          <a:p>
            <a:pPr>
              <a:defRPr sz="1200">
                <a:solidFill>
                  <a:srgbClr val="6B7280"/>
                </a:solidFill>
              </a:defRPr>
            </a:pPr>
            <a:r>
              <a:t>✔ FastAPI hiệu năng cao, bất đồng bộ (async).</a:t>
            </a:r>
          </a:p>
          <a:p>
            <a:pPr>
              <a:defRPr sz="1200">
                <a:solidFill>
                  <a:srgbClr val="6B7280"/>
                </a:solidFill>
              </a:defRPr>
            </a:pPr>
            <a:r>
              <a:t>✔ SQLAlchemy 2.0 ORM quản lý dữ liệu.</a:t>
            </a:r>
          </a:p>
          <a:p>
            <a:pPr>
              <a:defRPr sz="1200">
                <a:solidFill>
                  <a:srgbClr val="6B7280"/>
                </a:solidFill>
              </a:defRPr>
            </a:pPr>
            <a:r>
              <a:t>✔ SQLite local / PostgreSQL Supabase.</a:t>
            </a:r>
          </a:p>
          <a:p>
            <a:pPr>
              <a:defRPr sz="1200">
                <a:solidFill>
                  <a:srgbClr val="6B7280"/>
                </a:solidFill>
              </a:defRPr>
            </a:pPr>
            <a:r>
              <a:t>✔ Kiểm thử tự động 78 test cases bảo đảm toàn vẹn.</a:t>
            </a:r>
          </a:p>
        </p:txBody>
      </p:sp>
      <p:sp>
        <p:nvSpPr>
          <p:cNvPr id="8" name="Rounded Rectangle 7"/>
          <p:cNvSpPr/>
          <p:nvPr/>
        </p:nvSpPr>
        <p:spPr>
          <a:xfrm>
            <a:off x="8961120" y="1645920"/>
            <a:ext cx="24688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059669"/>
                </a:solidFill>
              </a:defRPr>
            </a:pPr>
            <a:r>
              <a:t>INTEGRATION</a:t>
            </a:r>
          </a:p>
          <a:p>
            <a:pPr>
              <a:defRPr sz="1700" b="1">
                <a:solidFill>
                  <a:srgbClr val="111827"/>
                </a:solidFill>
              </a:defRPr>
            </a:pPr>
            <a:r>
              <a:t>Xác Thực &amp; Đối Tác</a:t>
            </a:r>
          </a:p>
          <a:p>
            <a:pPr>
              <a:defRPr sz="1300" b="1">
                <a:solidFill>
                  <a:srgbClr val="059669"/>
                </a:solidFill>
              </a:defRPr>
            </a:pPr>
            <a:r>
              <a:t>Cốt lõi: Supabase + GHN API</a:t>
            </a:r>
          </a:p>
          <a:p>
            <a:pPr>
              <a:defRPr sz="1200">
                <a:solidFill>
                  <a:srgbClr val="6B7280"/>
                </a:solidFill>
              </a:defRPr>
            </a:pPr>
            <a:r>
              <a:t>✔ Supabase Auth xác thực JWT bảo mật phân quyền admin.</a:t>
            </a:r>
          </a:p>
          <a:p>
            <a:pPr>
              <a:defRPr sz="1200">
                <a:solidFill>
                  <a:srgbClr val="6B7280"/>
                </a:solidFill>
              </a:defRPr>
            </a:pPr>
            <a:r>
              <a:t>✔ GHN API Gateway Sandbox tự động tạo vận đơn bưu cục.</a:t>
            </a:r>
          </a:p>
          <a:p>
            <a:pPr>
              <a:defRPr sz="1200">
                <a:solidFill>
                  <a:srgbClr val="6B7280"/>
                </a:solidFill>
              </a:defRPr>
            </a:pPr>
            <a:r>
              <a:t>✔ VietQR API sinh mã thanh toán ngân hàng động.</a:t>
            </a:r>
          </a:p>
          <a:p>
            <a:pPr>
              <a:defRPr sz="1200">
                <a:solidFill>
                  <a:srgbClr val="6B7280"/>
                </a:solidFill>
              </a:defRPr>
            </a:pPr>
            <a:r>
              <a:t>✔ CSS Print Engine xuất phiếu giao hàng &amp; hóa đơn A4.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1E3A8A"/>
                </a:solidFill>
                <a:latin typeface="Segoe UI"/>
              </a:defRPr>
            </a:pPr>
            <a:r>
              <a:t>03. KẾT QUẢ THỰC HIỆN</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111827"/>
                </a:solidFill>
                <a:latin typeface="Segoe UI"/>
              </a:defRPr>
            </a:pPr>
            <a:r>
              <a:t>Bốn Trụ Cột Tính Năng Cốt Lõi Đã Hoàn Thiện</a:t>
            </a:r>
          </a:p>
        </p:txBody>
      </p:sp>
      <p:sp>
        <p:nvSpPr>
          <p:cNvPr id="5" name="Rounded Rectangle 4"/>
          <p:cNvSpPr/>
          <p:nvPr/>
        </p:nvSpPr>
        <p:spPr>
          <a:xfrm>
            <a:off x="731520" y="1645920"/>
            <a:ext cx="5212080" cy="210312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1E3A8A"/>
                </a:solidFill>
              </a:defRPr>
            </a:pPr>
            <a:r>
              <a:t>1. DANH MỤC THỜI TRANG &amp; DỮ LIỆU ĐỒ SỘ</a:t>
            </a:r>
          </a:p>
          <a:p>
            <a:pPr>
              <a:defRPr sz="1200">
                <a:solidFill>
                  <a:srgbClr val="6B7280"/>
                </a:solidFill>
              </a:defRPr>
            </a:pPr>
            <a:r>
              <a:t>• 55 dòng sản phẩm cao cấp, 118 biến thể màu sắc có ảnh studio trước/sau.</a:t>
            </a:r>
          </a:p>
          <a:p>
            <a:pPr>
              <a:defRPr sz="1200">
                <a:solidFill>
                  <a:srgbClr val="6B7280"/>
                </a:solidFill>
              </a:defRPr>
            </a:pPr>
            <a:r>
              <a:t>• Phân loại chuyên nghiệp: Áo sơ mi, Áo thun nam/nữ, Quần dài, Quần short, Chân váy.</a:t>
            </a:r>
          </a:p>
          <a:p>
            <a:pPr>
              <a:defRPr sz="1200">
                <a:solidFill>
                  <a:srgbClr val="6B7280"/>
                </a:solidFill>
              </a:defRPr>
            </a:pPr>
            <a:r>
              <a:t>• Lọc sản phẩm đa chiều theo kích thước, bảng màu và khoảng giá.</a:t>
            </a:r>
          </a:p>
        </p:txBody>
      </p:sp>
      <p:sp>
        <p:nvSpPr>
          <p:cNvPr id="6" name="Rounded Rectangle 5"/>
          <p:cNvSpPr/>
          <p:nvPr/>
        </p:nvSpPr>
        <p:spPr>
          <a:xfrm>
            <a:off x="6217920" y="1645920"/>
            <a:ext cx="5212080" cy="210312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C2985B"/>
                </a:solidFill>
              </a:defRPr>
            </a:pPr>
            <a:r>
              <a:t>2. TRỢ LÝ AI STYLIST &amp; COMBO CÁ NHÂN HÓA (GEMINI LLM)</a:t>
            </a:r>
          </a:p>
          <a:p>
            <a:pPr>
              <a:defRPr sz="1200">
                <a:solidFill>
                  <a:srgbClr val="6B7280"/>
                </a:solidFill>
              </a:defRPr>
            </a:pPr>
            <a:r>
              <a:t>• Tích hợp Chatbox AI Stylist độc quyền, kết nối mô hình ngôn ngữ lớn Google Gemini.</a:t>
            </a:r>
          </a:p>
          <a:p>
            <a:pPr>
              <a:defRPr sz="1200">
                <a:solidFill>
                  <a:srgbClr val="6B7280"/>
                </a:solidFill>
              </a:defRPr>
            </a:pPr>
            <a:r>
              <a:t>• Cá nhân hóa đa nguồn: Số đo nhân trắc + Lịch sử tìm kiếm gần nhất + Lịch sử đơn hàng đã đặt (phối chéo tủ đồ cũ).</a:t>
            </a:r>
          </a:p>
          <a:p>
            <a:pPr>
              <a:defRPr sz="1200">
                <a:solidFill>
                  <a:srgbClr val="6B7280"/>
                </a:solidFill>
              </a:defRPr>
            </a:pPr>
            <a:r>
              <a:t>• Tự động sinh Thẻ Combo Mua Sắm Thương Mại (Áo + Quần) với ảnh thật, giá thật, 1 nút 'Thêm giỏ' &amp; 'Mua ngay'.</a:t>
            </a:r>
          </a:p>
        </p:txBody>
      </p:sp>
      <p:sp>
        <p:nvSpPr>
          <p:cNvPr id="7" name="Rounded Rectangle 6"/>
          <p:cNvSpPr/>
          <p:nvPr/>
        </p:nvSpPr>
        <p:spPr>
          <a:xfrm>
            <a:off x="731520" y="4023360"/>
            <a:ext cx="5212080" cy="210312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2563EB"/>
                </a:solidFill>
              </a:defRPr>
            </a:pPr>
            <a:r>
              <a:t>3. PHÒNG THỬ ĐỒ 3D TRỰC QUAN (VIRTUAL TRY-ON)</a:t>
            </a:r>
          </a:p>
          <a:p>
            <a:pPr>
              <a:defRPr sz="1200">
                <a:solidFill>
                  <a:srgbClr val="6B7280"/>
                </a:solidFill>
              </a:defRPr>
            </a:pPr>
            <a:r>
              <a:t>• Thử đồ trực tiếp trên mô hình 3D: Áo thun, Sơ mi Oxford/Check, Quần dài, Chân váy.</a:t>
            </a:r>
          </a:p>
          <a:p>
            <a:pPr>
              <a:defRPr sz="1200">
                <a:solidFill>
                  <a:srgbClr val="6B7280"/>
                </a:solidFill>
              </a:defRPr>
            </a:pPr>
            <a:r>
              <a:t>• Thay đổi góc nhìn 360 độ, điều chỉnh dáng pose (đứng thẳng, tự nhiên).</a:t>
            </a:r>
          </a:p>
          <a:p>
            <a:pPr>
              <a:defRPr sz="1200">
                <a:solidFill>
                  <a:srgbClr val="6B7280"/>
                </a:solidFill>
              </a:defRPr>
            </a:pPr>
            <a:r>
              <a:t>• Tự động cảnh báo độ chật/vừa vặn (Tight/Fit) theo số đo của cơ thể.</a:t>
            </a:r>
          </a:p>
        </p:txBody>
      </p:sp>
      <p:sp>
        <p:nvSpPr>
          <p:cNvPr id="8" name="Rounded Rectangle 7"/>
          <p:cNvSpPr/>
          <p:nvPr/>
        </p:nvSpPr>
        <p:spPr>
          <a:xfrm>
            <a:off x="6217920" y="4023360"/>
            <a:ext cx="5212080" cy="210312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059669"/>
                </a:solidFill>
              </a:defRPr>
            </a:pPr>
            <a:r>
              <a:t>4. VẬN HÀNH LOGISTICS GHN &amp; IN PHIẾU GIAO HÀNG</a:t>
            </a:r>
          </a:p>
          <a:p>
            <a:pPr>
              <a:defRPr sz="1200">
                <a:solidFill>
                  <a:srgbClr val="6B7280"/>
                </a:solidFill>
              </a:defRPr>
            </a:pPr>
            <a:r>
              <a:t>• Tích hợp API bưu cục GHN: 1 nút tự động tạo vận đơn bưu cục thật trên hệ thống bưu điện.</a:t>
            </a:r>
          </a:p>
          <a:p>
            <a:pPr>
              <a:defRPr sz="1200">
                <a:solidFill>
                  <a:srgbClr val="6B7280"/>
                </a:solidFill>
              </a:defRPr>
            </a:pPr>
            <a:r>
              <a:t>• In phiếu đóng hàng &amp; hóa đơn A4/A5 chuẩn bưu điện, mã vạch SVG, ô thu tiền COD nổi bật.</a:t>
            </a:r>
          </a:p>
          <a:p>
            <a:pPr>
              <a:defRPr sz="1200">
                <a:solidFill>
                  <a:srgbClr val="6B7280"/>
                </a:solidFill>
              </a:defRPr>
            </a:pPr>
            <a:r>
              <a:t>• Tra cứu lộ trình đơn hàng trực tiếp qua liên kết hãng vận chuyển.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1E3A8A"/>
                </a:solidFill>
                <a:latin typeface="Segoe UI"/>
              </a:defRPr>
            </a:pPr>
            <a:r>
              <a:t>04. LUỒNG VẬN HÀNH BƯU PHẨM</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111827"/>
                </a:solidFill>
                <a:latin typeface="Segoe UI"/>
              </a:defRPr>
            </a:pPr>
            <a:r>
              <a:t>Quy Trình Đơn Hàng &amp; Tích Hợp GHN Logistics Tự Động</a:t>
            </a:r>
          </a:p>
        </p:txBody>
      </p:sp>
      <p:sp>
        <p:nvSpPr>
          <p:cNvPr id="5" name="Rounded Rectangle 4"/>
          <p:cNvSpPr/>
          <p:nvPr/>
        </p:nvSpPr>
        <p:spPr>
          <a:xfrm>
            <a:off x="731520" y="1645920"/>
            <a:ext cx="2468880" cy="4480560"/>
          </a:xfrm>
          <a:prstGeom prst="roundRect">
            <a:avLst/>
          </a:prstGeom>
          <a:solidFill>
            <a:srgbClr val="FFFFFF"/>
          </a:solidFill>
          <a:ln w="12700">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1E3A8A"/>
                </a:solidFill>
              </a:defRPr>
            </a:pPr>
            <a:r>
              <a:t>BƯỚC 1 — KHÁCH HÀNG</a:t>
            </a:r>
          </a:p>
          <a:p>
            <a:pPr>
              <a:defRPr sz="1700" b="1">
                <a:solidFill>
                  <a:srgbClr val="111827"/>
                </a:solidFill>
              </a:defRPr>
            </a:pPr>
            <a:r>
              <a:t>Mua Sắm &amp; Đặt Hàng</a:t>
            </a:r>
          </a:p>
          <a:p>
            <a:pPr>
              <a:defRPr sz="1300">
                <a:solidFill>
                  <a:srgbClr val="6B7280"/>
                </a:solidFill>
              </a:defRPr>
            </a:pPr>
            <a:r>
              <a:t>• Duyệt sản phẩm N&amp;B.</a:t>
            </a:r>
          </a:p>
          <a:p>
            <a:pPr>
              <a:defRPr sz="1300">
                <a:solidFill>
                  <a:srgbClr val="6B7280"/>
                </a:solidFill>
              </a:defRPr>
            </a:pPr>
            <a:r>
              <a:t>• Nhận gợi ý size thông minh theo chiều cao/cân nặng.</a:t>
            </a:r>
          </a:p>
          <a:p>
            <a:pPr>
              <a:defRPr sz="1300">
                <a:solidFill>
                  <a:srgbClr val="6B7280"/>
                </a:solidFill>
              </a:defRPr>
            </a:pPr>
            <a:r>
              <a:t>• Thử đồ trong phòng thử 3D.</a:t>
            </a:r>
          </a:p>
          <a:p>
            <a:pPr>
              <a:defRPr sz="1300">
                <a:solidFill>
                  <a:srgbClr val="6B7280"/>
                </a:solidFill>
              </a:defRPr>
            </a:pPr>
            <a:r>
              <a:t>• Checkout COD hoặc quét VietQR thanh toán.</a:t>
            </a:r>
          </a:p>
        </p:txBody>
      </p:sp>
      <p:sp>
        <p:nvSpPr>
          <p:cNvPr id="6" name="Rounded Rectangle 5"/>
          <p:cNvSpPr/>
          <p:nvPr/>
        </p:nvSpPr>
        <p:spPr>
          <a:xfrm>
            <a:off x="3474720" y="1645920"/>
            <a:ext cx="2468880" cy="4480560"/>
          </a:xfrm>
          <a:prstGeom prst="roundRect">
            <a:avLst/>
          </a:prstGeom>
          <a:solidFill>
            <a:srgbClr val="FFFFFF"/>
          </a:solidFill>
          <a:ln w="12700">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1E3A8A"/>
                </a:solidFill>
              </a:defRPr>
            </a:pPr>
            <a:r>
              <a:t>BƯỚC 2 — HỆ THỐNG ADMIN</a:t>
            </a:r>
          </a:p>
          <a:p>
            <a:pPr>
              <a:defRPr sz="1700" b="1">
                <a:solidFill>
                  <a:srgbClr val="111827"/>
                </a:solidFill>
              </a:defRPr>
            </a:pPr>
            <a:r>
              <a:t>Xác Nhận &amp; Xử Lý</a:t>
            </a:r>
          </a:p>
          <a:p>
            <a:pPr>
              <a:defRPr sz="1300">
                <a:solidFill>
                  <a:srgbClr val="6B7280"/>
                </a:solidFill>
              </a:defRPr>
            </a:pPr>
            <a:r>
              <a:t>• Tiếp nhận đơn hàng tự động.</a:t>
            </a:r>
          </a:p>
          <a:p>
            <a:pPr>
              <a:defRPr sz="1300">
                <a:solidFill>
                  <a:srgbClr val="6B7280"/>
                </a:solidFill>
              </a:defRPr>
            </a:pPr>
            <a:r>
              <a:t>• Kiểm tra tồn kho kho hàng Flagship.</a:t>
            </a:r>
          </a:p>
          <a:p>
            <a:pPr>
              <a:defRPr sz="1300">
                <a:solidFill>
                  <a:srgbClr val="6B7280"/>
                </a:solidFill>
              </a:defRPr>
            </a:pPr>
            <a:r>
              <a:t>• Admin duyệt đơn sang trạng thái Đã xác nhận (Confirmed).</a:t>
            </a:r>
          </a:p>
          <a:p>
            <a:pPr>
              <a:defRPr sz="1300">
                <a:solidFill>
                  <a:srgbClr val="6B7280"/>
                </a:solidFill>
              </a:defRPr>
            </a:pPr>
            <a:r>
              <a:t>• Chuẩn bị đóng gói sản phẩm.</a:t>
            </a:r>
          </a:p>
        </p:txBody>
      </p:sp>
      <p:sp>
        <p:nvSpPr>
          <p:cNvPr id="7" name="Rounded Rectangle 6"/>
          <p:cNvSpPr/>
          <p:nvPr/>
        </p:nvSpPr>
        <p:spPr>
          <a:xfrm>
            <a:off x="6217920" y="1645920"/>
            <a:ext cx="2468880" cy="4480560"/>
          </a:xfrm>
          <a:prstGeom prst="roundRect">
            <a:avLst/>
          </a:prstGeom>
          <a:solidFill>
            <a:srgbClr val="FFFFFF"/>
          </a:solidFill>
          <a:ln w="25400">
            <a:solidFill>
              <a:srgbClr val="C2985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C2985B"/>
                </a:solidFill>
              </a:defRPr>
            </a:pPr>
            <a:r>
              <a:t>BƯỚC 3 — API GHN BƯU CỤC</a:t>
            </a:r>
          </a:p>
          <a:p>
            <a:pPr>
              <a:defRPr sz="1700" b="1">
                <a:solidFill>
                  <a:srgbClr val="111827"/>
                </a:solidFill>
              </a:defRPr>
            </a:pPr>
            <a:r>
              <a:t>Tạo Vận Đơn GHN</a:t>
            </a:r>
          </a:p>
          <a:p>
            <a:pPr>
              <a:defRPr sz="1300">
                <a:solidFill>
                  <a:srgbClr val="6B7280"/>
                </a:solidFill>
              </a:defRPr>
            </a:pPr>
            <a:r>
              <a:t>• Bấm nút 'Tạo vận đơn GHN'.</a:t>
            </a:r>
          </a:p>
          <a:p>
            <a:pPr>
              <a:defRPr sz="1300">
                <a:solidFill>
                  <a:srgbClr val="6B7280"/>
                </a:solidFill>
              </a:defRPr>
            </a:pPr>
            <a:r>
              <a:t>• Hệ thống gửi request sang GHN Dev Gateway.</a:t>
            </a:r>
          </a:p>
          <a:p>
            <a:pPr>
              <a:defRPr sz="1300">
                <a:solidFill>
                  <a:srgbClr val="6B7280"/>
                </a:solidFill>
              </a:defRPr>
            </a:pPr>
            <a:r>
              <a:t>• GHN sinh mã vận đơn chính thức (VD: LYQGW4).</a:t>
            </a:r>
          </a:p>
          <a:p>
            <a:pPr>
              <a:defRPr sz="1300">
                <a:solidFill>
                  <a:srgbClr val="6B7280"/>
                </a:solidFill>
              </a:defRPr>
            </a:pPr>
            <a:r>
              <a:t>• Đơn nhảy lên bảng điều khiển 5sao.ghn.dev bưu tá.</a:t>
            </a:r>
          </a:p>
        </p:txBody>
      </p:sp>
      <p:sp>
        <p:nvSpPr>
          <p:cNvPr id="8" name="Rounded Rectangle 7"/>
          <p:cNvSpPr/>
          <p:nvPr/>
        </p:nvSpPr>
        <p:spPr>
          <a:xfrm>
            <a:off x="8961120" y="1645920"/>
            <a:ext cx="2468880" cy="4480560"/>
          </a:xfrm>
          <a:prstGeom prst="roundRect">
            <a:avLst/>
          </a:prstGeom>
          <a:solidFill>
            <a:srgbClr val="FFFFFF"/>
          </a:solidFill>
          <a:ln w="12700">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1E3A8A"/>
                </a:solidFill>
              </a:defRPr>
            </a:pPr>
            <a:r>
              <a:t>BƯỚC 4 — ĐÓNG GÓI &amp; BÀN GIAO</a:t>
            </a:r>
          </a:p>
          <a:p>
            <a:pPr>
              <a:defRPr sz="1700" b="1">
                <a:solidFill>
                  <a:srgbClr val="111827"/>
                </a:solidFill>
              </a:defRPr>
            </a:pPr>
            <a:r>
              <a:t>In Phiếu &amp; Phát Hàng</a:t>
            </a:r>
          </a:p>
          <a:p>
            <a:pPr>
              <a:defRPr sz="1300">
                <a:solidFill>
                  <a:srgbClr val="6B7280"/>
                </a:solidFill>
              </a:defRPr>
            </a:pPr>
            <a:r>
              <a:t>• Bấm 'In phiếu giao hàng / Xuất PDF'.</a:t>
            </a:r>
          </a:p>
          <a:p>
            <a:pPr>
              <a:defRPr sz="1300">
                <a:solidFill>
                  <a:srgbClr val="6B7280"/>
                </a:solidFill>
              </a:defRPr>
            </a:pPr>
            <a:r>
              <a:t>• Phiếu in chuẩn A4/A5 dán hộp có mã vạch và số tiền COD.</a:t>
            </a:r>
          </a:p>
          <a:p>
            <a:pPr>
              <a:defRPr sz="1300">
                <a:solidFill>
                  <a:srgbClr val="6B7280"/>
                </a:solidFill>
              </a:defRPr>
            </a:pPr>
            <a:r>
              <a:t>• Bưu tá GHN lấy hàng đi giao.</a:t>
            </a:r>
          </a:p>
          <a:p>
            <a:pPr>
              <a:defRPr sz="1300">
                <a:solidFill>
                  <a:srgbClr val="6B7280"/>
                </a:solidFill>
              </a:defRPr>
            </a:pPr>
            <a:r>
              <a:t>• Khách tra cứu hành trình trực tiếp.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C2985B"/>
                </a:solidFill>
                <a:latin typeface="Segoe UI"/>
              </a:defRPr>
            </a:pPr>
            <a:r>
              <a:t>05. TRÌNH DIỄN THỰC TẾ</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FFFFFF"/>
                </a:solidFill>
                <a:latin typeface="Segoe UI"/>
              </a:defRPr>
            </a:pPr>
            <a:r>
              <a:t>Kịch Bản Live Demo Sản Phẩm Trên Trình Duyệt</a:t>
            </a:r>
          </a:p>
        </p:txBody>
      </p:sp>
      <p:sp>
        <p:nvSpPr>
          <p:cNvPr id="5" name="Rounded Rectangle 4"/>
          <p:cNvSpPr/>
          <p:nvPr/>
        </p:nvSpPr>
        <p:spPr>
          <a:xfrm>
            <a:off x="731520" y="1645920"/>
            <a:ext cx="3383280" cy="4480560"/>
          </a:xfrm>
          <a:prstGeom prst="roundRect">
            <a:avLst/>
          </a:prstGeom>
          <a:solidFill>
            <a:srgbClr val="232733"/>
          </a:solidFill>
          <a:ln>
            <a:solidFill>
              <a:srgbClr val="37415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C2985B"/>
                </a:solidFill>
              </a:defRPr>
            </a:pPr>
            <a:r>
              <a:t>KỊCH BẢN 1: KHÁCH HÀNG &amp; AI STYLIST</a:t>
            </a:r>
          </a:p>
          <a:p>
            <a:pPr>
              <a:defRPr sz="1300">
                <a:solidFill>
                  <a:srgbClr val="D1D5DB"/>
                </a:solidFill>
              </a:defRPr>
            </a:pPr>
            <a:r>
              <a:t>1. Mở Chatbox AI Stylist -&gt; Nhận tư vấn cá nhân hóa theo số đo, lịch sử tìm kiếm &amp; đơn hàng cũ.</a:t>
            </a:r>
          </a:p>
          <a:p>
            <a:pPr>
              <a:defRPr sz="1300">
                <a:solidFill>
                  <a:srgbClr val="D1D5DB"/>
                </a:solidFill>
              </a:defRPr>
            </a:pPr>
            <a:r>
              <a:t>2. Nhận Thẻ Combo Mua Sắm trực quan -&gt; Bấm 'Thêm vào giỏ' hoặc 'Mua ngay' 1-chạm.</a:t>
            </a:r>
          </a:p>
          <a:p>
            <a:pPr>
              <a:defRPr sz="1300">
                <a:solidFill>
                  <a:srgbClr val="D1D5DB"/>
                </a:solidFill>
              </a:defRPr>
            </a:pPr>
            <a:r>
              <a:t>3. Truy cập Phòng thử đồ 3D -&gt; Trải nghiệm xoay 360 độ, kiểm tra độ rủ vải và thẻ Fit Card.</a:t>
            </a:r>
          </a:p>
          <a:p>
            <a:pPr>
              <a:defRPr sz="1300">
                <a:solidFill>
                  <a:srgbClr val="D1D5DB"/>
                </a:solidFill>
              </a:defRPr>
            </a:pPr>
            <a:r>
              <a:t>4. Đặt hàng qua COD hoặc quét mã VietQR tự động với sổ địa chỉ nhận hàng.</a:t>
            </a:r>
          </a:p>
          <a:p>
            <a:pPr>
              <a:defRPr sz="1300">
                <a:solidFill>
                  <a:srgbClr val="D1D5DB"/>
                </a:solidFill>
              </a:defRPr>
            </a:pPr>
            <a:r>
              <a:t>5. Quy trình khép kín: Tư vấn AI -&gt; Thử đồ 3D -&gt; Mua hàng chỉ trong vài thao tác.</a:t>
            </a:r>
          </a:p>
        </p:txBody>
      </p:sp>
      <p:sp>
        <p:nvSpPr>
          <p:cNvPr id="6" name="Rounded Rectangle 5"/>
          <p:cNvSpPr/>
          <p:nvPr/>
        </p:nvSpPr>
        <p:spPr>
          <a:xfrm>
            <a:off x="4389120" y="1645920"/>
            <a:ext cx="3383280" cy="4480560"/>
          </a:xfrm>
          <a:prstGeom prst="roundRect">
            <a:avLst/>
          </a:prstGeom>
          <a:solidFill>
            <a:srgbClr val="232733"/>
          </a:solidFill>
          <a:ln>
            <a:solidFill>
              <a:srgbClr val="37415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2563EB"/>
                </a:solidFill>
              </a:defRPr>
            </a:pPr>
            <a:r>
              <a:t>KỊCH BẢN 2: QUẢN TRỊ ADMIN</a:t>
            </a:r>
          </a:p>
          <a:p>
            <a:pPr>
              <a:defRPr sz="1300">
                <a:solidFill>
                  <a:srgbClr val="D1D5DB"/>
                </a:solidFill>
              </a:defRPr>
            </a:pPr>
            <a:r>
              <a:t>1. Đăng nhập quyền Admin truy cập /admin/orders.</a:t>
            </a:r>
          </a:p>
          <a:p>
            <a:pPr>
              <a:defRPr sz="1300">
                <a:solidFill>
                  <a:srgbClr val="D1D5DB"/>
                </a:solidFill>
              </a:defRPr>
            </a:pPr>
            <a:r>
              <a:t>2. Kiểm tra danh sách đơn hàng vừa đặt.</a:t>
            </a:r>
          </a:p>
          <a:p>
            <a:pPr>
              <a:defRPr sz="1300">
                <a:solidFill>
                  <a:srgbClr val="D1D5DB"/>
                </a:solidFill>
              </a:defRPr>
            </a:pPr>
            <a:r>
              <a:t>3. Bấm xác nhận đơn và tiến hành 'Tạo vận đơn GHN'.</a:t>
            </a:r>
          </a:p>
          <a:p>
            <a:pPr>
              <a:defRPr sz="1300">
                <a:solidFill>
                  <a:srgbClr val="D1D5DB"/>
                </a:solidFill>
              </a:defRPr>
            </a:pPr>
            <a:r>
              <a:t>4. Quan sát hệ thống gọi API và cập nhật mã vận đơn bưu cục thật.</a:t>
            </a:r>
          </a:p>
          <a:p>
            <a:pPr>
              <a:defRPr sz="1300">
                <a:solidFill>
                  <a:srgbClr val="D1D5DB"/>
                </a:solidFill>
              </a:defRPr>
            </a:pPr>
            <a:r>
              <a:t>5. Mở tab bưu cục https://5sao.ghn.dev kiểm tra đơn đã xuất hiện.</a:t>
            </a:r>
          </a:p>
        </p:txBody>
      </p:sp>
      <p:sp>
        <p:nvSpPr>
          <p:cNvPr id="7" name="Rounded Rectangle 6"/>
          <p:cNvSpPr/>
          <p:nvPr/>
        </p:nvSpPr>
        <p:spPr>
          <a:xfrm>
            <a:off x="8046720" y="1645920"/>
            <a:ext cx="3383280" cy="4480560"/>
          </a:xfrm>
          <a:prstGeom prst="roundRect">
            <a:avLst/>
          </a:prstGeom>
          <a:solidFill>
            <a:srgbClr val="232733"/>
          </a:solidFill>
          <a:ln>
            <a:solidFill>
              <a:srgbClr val="37415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059669"/>
                </a:solidFill>
              </a:defRPr>
            </a:pPr>
            <a:r>
              <a:t>KỊCH BẢN 3: ĐÓNG GÓI &amp; TRA CỨU</a:t>
            </a:r>
          </a:p>
          <a:p>
            <a:pPr>
              <a:defRPr sz="1300">
                <a:solidFill>
                  <a:srgbClr val="D1D5DB"/>
                </a:solidFill>
              </a:defRPr>
            </a:pPr>
            <a:r>
              <a:t>1. Bấm 'In phiếu giao hàng' ngay trên bảng đơn hàng.</a:t>
            </a:r>
          </a:p>
          <a:p>
            <a:pPr>
              <a:defRPr sz="1300">
                <a:solidFill>
                  <a:srgbClr val="D1D5DB"/>
                </a:solidFill>
              </a:defRPr>
            </a:pPr>
            <a:r>
              <a:t>2. Hiển thị phiếu in A4/A5 có Barcode, thông tin người gửi/nhận và số tiền COD.</a:t>
            </a:r>
          </a:p>
          <a:p>
            <a:pPr>
              <a:defRPr sz="1300">
                <a:solidFill>
                  <a:srgbClr val="D1D5DB"/>
                </a:solidFill>
              </a:defRPr>
            </a:pPr>
            <a:r>
              <a:t>3. Bấm 'In phiếu / Xuất PDF' xem giao diện bản in thực tế.</a:t>
            </a:r>
          </a:p>
          <a:p>
            <a:pPr>
              <a:defRPr sz="1300">
                <a:solidFill>
                  <a:srgbClr val="D1D5DB"/>
                </a:solidFill>
              </a:defRPr>
            </a:pPr>
            <a:r>
              <a:t>4. Đóng vai khách hàng: Bấm vào mã vận đơn để tra cứu lộ trình trực tiếp.</a:t>
            </a:r>
          </a:p>
          <a:p>
            <a:pPr>
              <a:defRPr sz="1300">
                <a:solidFill>
                  <a:srgbClr val="D1D5DB"/>
                </a:solidFill>
              </a:defRPr>
            </a:pPr>
            <a:r>
              <a:t>5. Xác nhận quy trình khép kín 100% từ mua sắm đến giao vận.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1E3A8A"/>
                </a:solidFill>
                <a:latin typeface="Segoe UI"/>
              </a:defRPr>
            </a:pPr>
            <a:r>
              <a:t>06. ĐÁNH GIÁ &amp; KẾ HOẠCH</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111827"/>
                </a:solidFill>
                <a:latin typeface="Segoe UI"/>
              </a:defRPr>
            </a:pPr>
            <a:r>
              <a:t>Kết Quả Đạt Được &amp; Lộ Trình Hoàn Thiện Đến 12/2026</a:t>
            </a:r>
          </a:p>
        </p:txBody>
      </p:sp>
      <p:sp>
        <p:nvSpPr>
          <p:cNvPr id="5" name="Rounded Rectangle 4"/>
          <p:cNvSpPr/>
          <p:nvPr/>
        </p:nvSpPr>
        <p:spPr>
          <a:xfrm>
            <a:off x="731520" y="1645920"/>
            <a:ext cx="5212080" cy="44805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059669"/>
                </a:solidFill>
              </a:defRPr>
            </a:pPr>
            <a:r>
              <a:t>KẾT QUẢ ĐẠT ĐƯỢC (VƯỢT TIẾN ĐỘ ĐỢT 1)</a:t>
            </a:r>
          </a:p>
          <a:p>
            <a:pPr>
              <a:defRPr sz="1800" b="1">
                <a:solidFill>
                  <a:srgbClr val="111827"/>
                </a:solidFill>
              </a:defRPr>
            </a:pPr>
            <a:r>
              <a:t>Hệ Thống Đã Vận Hành Ổn Định 100%</a:t>
            </a:r>
          </a:p>
          <a:p>
            <a:pPr>
              <a:defRPr sz="1300">
                <a:solidFill>
                  <a:srgbClr val="6B7280"/>
                </a:solidFill>
              </a:defRPr>
            </a:pPr>
            <a:r>
              <a:t>✔ Hoàn thành toàn bộ kiến trúc TMĐT cốt lõi: Catalog, Giỏ hàng, Sổ địa chỉ, Checkout, Thanh toán QR &amp; COD.</a:t>
            </a:r>
          </a:p>
          <a:p>
            <a:pPr>
              <a:defRPr sz="1300">
                <a:solidFill>
                  <a:srgbClr val="6B7280"/>
                </a:solidFill>
              </a:defRPr>
            </a:pPr>
            <a:r>
              <a:t>✔ Xây dựng thành công bộ dữ liệu 55 sản phẩm với 118 biến thể màu sắc có kết cấu 3D tương ứng.</a:t>
            </a:r>
          </a:p>
          <a:p>
            <a:pPr>
              <a:defRPr sz="1300">
                <a:solidFill>
                  <a:srgbClr val="6B7280"/>
                </a:solidFill>
              </a:defRPr>
            </a:pPr>
            <a:r>
              <a:t>✔ Phòng thử đồ 3D hoạt động mượt mà trên Web, hỗ trợ thử áo thun, sơ mi, quần dài, chân váy.</a:t>
            </a:r>
          </a:p>
          <a:p>
            <a:pPr>
              <a:defRPr sz="1300">
                <a:solidFill>
                  <a:srgbClr val="6B7280"/>
                </a:solidFill>
              </a:defRPr>
            </a:pPr>
            <a:r>
              <a:t>✔ Đột phá AI Stylist: Tích hợp Gemini LLM gợi ý combo cá nhân hóa theo số đo, lịch sử tìm kiếm &amp; đơn hàng cũ.</a:t>
            </a:r>
          </a:p>
          <a:p>
            <a:pPr>
              <a:defRPr sz="1300">
                <a:solidFill>
                  <a:srgbClr val="6B7280"/>
                </a:solidFill>
              </a:defRPr>
            </a:pPr>
            <a:r>
              <a:t>✔ Tích hợp thành công API thật của bưu cục Giao Hàng Nhanh (GHN) và module in phiếu đóng hàng bưu điện.</a:t>
            </a:r>
          </a:p>
          <a:p>
            <a:r>
              <a:t>✔ Bộ kiểm thử tự động toàn diện: 78 backend pytest, 60 node integration tests, 70 vitest UI tests đều pass 100%.</a:t>
            </a:r>
          </a:p>
        </p:txBody>
      </p:sp>
      <p:sp>
        <p:nvSpPr>
          <p:cNvPr id="6" name="Rounded Rectangle 5"/>
          <p:cNvSpPr/>
          <p:nvPr/>
        </p:nvSpPr>
        <p:spPr>
          <a:xfrm>
            <a:off x="6217920" y="1645920"/>
            <a:ext cx="52120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C2985B"/>
                </a:solidFill>
              </a:defRPr>
            </a:pPr>
            <a:r>
              <a:t>KẾ HOẠCH NƯỚC RÚT (11/2026 – 12/2026)</a:t>
            </a:r>
          </a:p>
          <a:p>
            <a:pPr>
              <a:defRPr sz="1800" b="1">
                <a:solidFill>
                  <a:srgbClr val="111827"/>
                </a:solidFill>
              </a:defRPr>
            </a:pPr>
            <a:r>
              <a:t>Chuẩn Bị Bảo Vệ Luận Văn Tốt Nghiệp</a:t>
            </a:r>
          </a:p>
          <a:p>
            <a:pPr>
              <a:defRPr sz="1300">
                <a:solidFill>
                  <a:srgbClr val="6B7280"/>
                </a:solidFill>
              </a:defRPr>
            </a:pPr>
            <a:r>
              <a:t>➔ Tháng 11/2026: Tối ưu hiệu năng WebGL/Three.js trên thiết bị di động (Mobile Responsive 3D).</a:t>
            </a:r>
          </a:p>
          <a:p>
            <a:pPr>
              <a:defRPr sz="1300">
                <a:solidFill>
                  <a:srgbClr val="6B7280"/>
                </a:solidFill>
              </a:defRPr>
            </a:pPr>
            <a:r>
              <a:t>➔ Tháng 11/2026: Mở rộng các phom đồ nâng cao trong phòng thử 3D (Áo khoác Blazer, Đầm liền).</a:t>
            </a:r>
          </a:p>
          <a:p>
            <a:pPr>
              <a:defRPr sz="1300">
                <a:solidFill>
                  <a:srgbClr val="6B7280"/>
                </a:solidFill>
              </a:defRPr>
            </a:pPr>
            <a:r>
              <a:t>➔ Đầu tháng 12/2026: Hoàn thiện báo cáo luận văn tốt nghiệp theo đúng format quy chuẩn trường.</a:t>
            </a:r>
          </a:p>
          <a:p>
            <a:pPr>
              <a:defRPr sz="1300">
                <a:solidFill>
                  <a:srgbClr val="6B7280"/>
                </a:solidFill>
              </a:defRPr>
            </a:pPr>
            <a:r>
              <a:t>➔ Giữa tháng 12/2026: Đóng gói bản cài đặt production, chuẩn bị video demo dự phòng và bảo vệ chính thức.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