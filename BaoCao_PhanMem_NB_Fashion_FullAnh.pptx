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14400" y="822960"/>
            <a:ext cx="10360152" cy="52120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1371600"/>
            <a:ext cx="9445752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300" b="1">
                <a:solidFill>
                  <a:srgbClr val="2563EB"/>
                </a:solidFill>
              </a:defRPr>
            </a:pPr>
            <a:r>
              <a:t>ALBUM HÌNH ẢNH &amp; GIỚI THIỆU PHẦN MỀM</a:t>
            </a:r>
          </a:p>
          <a:p>
            <a:pPr>
              <a:defRPr sz="3000" b="1">
                <a:solidFill>
                  <a:srgbClr val="0F172A"/>
                </a:solidFill>
              </a:defRPr>
            </a:pPr>
            <a:r>
              <a:t>HỆ THỐNG THỜI TRANG N&amp;B FASHION</a:t>
            </a:r>
          </a:p>
          <a:p>
            <a:pPr>
              <a:spcAft>
                <a:spcPts val="2800"/>
              </a:spcAft>
              <a:defRPr sz="1600">
                <a:solidFill>
                  <a:srgbClr val="2563EB"/>
                </a:solidFill>
              </a:defRPr>
            </a:pPr>
            <a:r>
              <a:t>Bộ Ảnh Chụp Thực Tế 8 Màn Hình Tính Năng Đã Vận Hành Hoàn Thiện</a:t>
            </a:r>
          </a:p>
          <a:p>
            <a:pPr>
              <a:spcAft>
                <a:spcPts val="3000"/>
              </a:spcAft>
              <a:defRPr sz="1300">
                <a:solidFill>
                  <a:srgbClr val="64748B"/>
                </a:solidFill>
              </a:defRPr>
            </a:pPr>
            <a:r>
              <a:t>Minh họa chi tiết: Cửa hàng TMĐT, Bộ lọc, Chi tiết sản phẩm, AI Stylist, Thử đồ 3D và Bưu cục GHN</a:t>
            </a:r>
          </a:p>
          <a:p>
            <a:pPr>
              <a:defRPr sz="1300" b="1">
                <a:solidFill>
                  <a:srgbClr val="1E293B"/>
                </a:solidFill>
              </a:defRPr>
            </a:pPr>
            <a:r>
              <a:t>Nhóm phát triển: Võ Minh Nhật  &amp;  Phạm Lê Gia Bảo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563EB"/>
                </a:solidFill>
              </a:defRPr>
            </a:pPr>
            <a:r>
              <a:t>MÀN HÌNH 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F172A"/>
                </a:solidFill>
              </a:defRPr>
            </a:pPr>
            <a:r>
              <a:t>Trang Chủ &amp; Banner Thương Hiệu N&amp;B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9728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64748B"/>
                </a:solidFill>
              </a:defRPr>
            </a:pPr>
            <a:r>
              <a:t>Giao diện hiện đại, sang trọng, định hình phong cách thời trang cao cấp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54480"/>
            <a:ext cx="4114800" cy="48463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737360"/>
            <a:ext cx="3749039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200" b="1">
                <a:solidFill>
                  <a:srgbClr val="2563EB"/>
                </a:solidFill>
              </a:defRPr>
            </a:pPr>
            <a:r>
              <a:t>CÁC ĐIỂM NỔI BẬT</a:t>
            </a:r>
          </a:p>
          <a:p>
            <a:pPr>
              <a:spcAft>
                <a:spcPts val="800"/>
              </a:spcAft>
              <a:defRPr sz="1050">
                <a:solidFill>
                  <a:srgbClr val="1E293B"/>
                </a:solidFill>
              </a:defRPr>
            </a:pPr>
            <a:r>
              <a:t>✔ Banner thương hiệu N&amp;B Atelier chuyên nghiệp, phong cách tối giản.</a:t>
            </a:r>
          </a:p>
          <a:p>
            <a:pPr>
              <a:spcAft>
                <a:spcPts val="800"/>
              </a:spcAft>
              <a:defRPr sz="1050">
                <a:solidFill>
                  <a:srgbClr val="1E293B"/>
                </a:solidFill>
              </a:defRPr>
            </a:pPr>
            <a:r>
              <a:t>✔ Hiển thị bộ sưu tập nổi bật mùa mới (Áo thun, Sơ mi, Quần dài, Váy).</a:t>
            </a:r>
          </a:p>
          <a:p>
            <a:pPr>
              <a:spcAft>
                <a:spcPts val="800"/>
              </a:spcAft>
              <a:defRPr sz="1050">
                <a:solidFill>
                  <a:srgbClr val="1E293B"/>
                </a:solidFill>
              </a:defRPr>
            </a:pPr>
            <a:r>
              <a:t>✔ Thanh điều hướng thông minh: Phân loại đồ Nam, đồ Nữ, Giỏ hàng.</a:t>
            </a:r>
          </a:p>
          <a:p>
            <a:pPr>
              <a:spcAft>
                <a:spcPts val="800"/>
              </a:spcAft>
              <a:defRPr sz="1050">
                <a:solidFill>
                  <a:srgbClr val="1E293B"/>
                </a:solidFill>
              </a:defRPr>
            </a:pPr>
            <a:r>
              <a:t>✔ Tích hợp nút kích hoạt nhanh Trợ lý AI Stylist ở góc phải màn hình.</a:t>
            </a:r>
          </a:p>
        </p:txBody>
      </p:sp>
      <p:pic>
        <p:nvPicPr>
          <p:cNvPr id="8" name="Picture 7" descr="shot_01_ho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5544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563EB"/>
                </a:solidFill>
              </a:defRPr>
            </a:pPr>
            <a:r>
              <a:t>MÀN HÌNH 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F172A"/>
                </a:solidFill>
              </a:defRPr>
            </a:pPr>
            <a:r>
              <a:t>Danh Mục Sản Phẩm &amp; Bộ Lọc Đa Chiều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9728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64748B"/>
                </a:solidFill>
              </a:defRPr>
            </a:pPr>
            <a:r>
              <a:t>55 dòng sản phẩm cao cấp, 118 màu có hình studio và lọc thông minh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54480"/>
            <a:ext cx="4114800" cy="48463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737360"/>
            <a:ext cx="3749039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200" b="1">
                <a:solidFill>
                  <a:srgbClr val="2563EB"/>
                </a:solidFill>
              </a:defRPr>
            </a:pPr>
            <a:r>
              <a:t>CÁC ĐIỂM NỔI BẬT</a:t>
            </a:r>
          </a:p>
          <a:p>
            <a:pPr>
              <a:spcAft>
                <a:spcPts val="800"/>
              </a:spcAft>
              <a:defRPr sz="1050">
                <a:solidFill>
                  <a:srgbClr val="1E293B"/>
                </a:solidFill>
              </a:defRPr>
            </a:pPr>
            <a:r>
              <a:t>✔ Kho sản phẩm lớn: 55 dòng thời trang cao cấp với 118 biến thể màu.</a:t>
            </a:r>
          </a:p>
          <a:p>
            <a:pPr>
              <a:spcAft>
                <a:spcPts val="800"/>
              </a:spcAft>
              <a:defRPr sz="1050">
                <a:solidFill>
                  <a:srgbClr val="1E293B"/>
                </a:solidFill>
              </a:defRPr>
            </a:pPr>
            <a:r>
              <a:t>✔ Bộ lọc kích thước: Lọc nhanh theo size S, M, L, XL.</a:t>
            </a:r>
          </a:p>
          <a:p>
            <a:pPr>
              <a:spcAft>
                <a:spcPts val="800"/>
              </a:spcAft>
              <a:defRPr sz="1050">
                <a:solidFill>
                  <a:srgbClr val="1E293B"/>
                </a:solidFill>
              </a:defRPr>
            </a:pPr>
            <a:r>
              <a:t>✔ Bộ lọc mức giá: Kéo thanh trượt chọn khoảng giá mong muốn.</a:t>
            </a:r>
          </a:p>
          <a:p>
            <a:pPr>
              <a:spcAft>
                <a:spcPts val="800"/>
              </a:spcAft>
              <a:defRPr sz="1050">
                <a:solidFill>
                  <a:srgbClr val="1E293B"/>
                </a:solidFill>
              </a:defRPr>
            </a:pPr>
            <a:r>
              <a:t>✔ Lưới hiển thị sản phẩm trực quan, hiển thị tag giá và màu sắc sắc nét.</a:t>
            </a:r>
          </a:p>
        </p:txBody>
      </p:sp>
      <p:pic>
        <p:nvPicPr>
          <p:cNvPr id="8" name="Picture 7" descr="shot_02_catalo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5544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563EB"/>
                </a:solidFill>
              </a:defRPr>
            </a:pPr>
            <a:r>
              <a:t>MÀN HÌNH 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F172A"/>
                </a:solidFill>
              </a:defRPr>
            </a:pPr>
            <a:r>
              <a:t>Trang Chi Tiết Sản Phẩm &amp; Nút Thử Đồ 3D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9728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64748B"/>
                </a:solidFill>
              </a:defRPr>
            </a:pPr>
            <a:r>
              <a:t>Thông tin chất liệu, chọn màu sắc thời gian thực và liên kết phòng thử 3D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54480"/>
            <a:ext cx="4114800" cy="48463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737360"/>
            <a:ext cx="3749039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200" b="1">
                <a:solidFill>
                  <a:srgbClr val="2563EB"/>
                </a:solidFill>
              </a:defRPr>
            </a:pPr>
            <a:r>
              <a:t>CÁC ĐIỂM NỔI BẬT</a:t>
            </a:r>
          </a:p>
          <a:p>
            <a:pPr>
              <a:spcAft>
                <a:spcPts val="800"/>
              </a:spcAft>
              <a:defRPr sz="1050">
                <a:solidFill>
                  <a:srgbClr val="1E293B"/>
                </a:solidFill>
              </a:defRPr>
            </a:pPr>
            <a:r>
              <a:t>✔ Ảnh chụp studio phóng to chi tiết góc trước và góc sau sản phẩm.</a:t>
            </a:r>
          </a:p>
          <a:p>
            <a:pPr>
              <a:spcAft>
                <a:spcPts val="800"/>
              </a:spcAft>
              <a:defRPr sz="1050">
                <a:solidFill>
                  <a:srgbClr val="1E293B"/>
                </a:solidFill>
              </a:defRPr>
            </a:pPr>
            <a:r>
              <a:t>✔ Bảng chọn biến thể màu sắc (Color Swatches) trực quan.</a:t>
            </a:r>
          </a:p>
          <a:p>
            <a:pPr>
              <a:spcAft>
                <a:spcPts val="800"/>
              </a:spcAft>
              <a:defRPr sz="1050">
                <a:solidFill>
                  <a:srgbClr val="1E293B"/>
                </a:solidFill>
              </a:defRPr>
            </a:pPr>
            <a:r>
              <a:t>✔ Nút chọn size S / M / L / XL kèm hướng dẫn kích cỡ.</a:t>
            </a:r>
          </a:p>
          <a:p>
            <a:pPr>
              <a:spcAft>
                <a:spcPts val="800"/>
              </a:spcAft>
              <a:defRPr sz="1050">
                <a:solidFill>
                  <a:srgbClr val="1E293B"/>
                </a:solidFill>
              </a:defRPr>
            </a:pPr>
            <a:r>
              <a:t>✔ Nút 'Thử đồ 3D': Chuyển ngay sản phẩm sang phòng thử đồ 3D để ướm thử.</a:t>
            </a:r>
          </a:p>
        </p:txBody>
      </p:sp>
      <p:pic>
        <p:nvPicPr>
          <p:cNvPr id="8" name="Picture 7" descr="shot_03_detai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5544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563EB"/>
                </a:solidFill>
              </a:defRPr>
            </a:pPr>
            <a:r>
              <a:t>MÀN HÌNH 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F172A"/>
                </a:solidFill>
              </a:defRPr>
            </a:pPr>
            <a:r>
              <a:t>Trợ Lý AI Stylist &amp; Thẻ Combo Mua Sắm 1-Chạm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9728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64748B"/>
                </a:solidFill>
              </a:defRPr>
            </a:pPr>
            <a:r>
              <a:t>Phối đồ cá nhân hóa dựa trên số đo, lịch sử tìm kiếm và đơn hàng cũ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54480"/>
            <a:ext cx="4114800" cy="48463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737360"/>
            <a:ext cx="3749039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200" b="1">
                <a:solidFill>
                  <a:srgbClr val="2563EB"/>
                </a:solidFill>
              </a:defRPr>
            </a:pPr>
            <a:r>
              <a:t>CÁC ĐIỂM NỔI BẬT</a:t>
            </a:r>
          </a:p>
          <a:p>
            <a:pPr>
              <a:spcAft>
                <a:spcPts val="800"/>
              </a:spcAft>
              <a:defRPr sz="1050">
                <a:solidFill>
                  <a:srgbClr val="1E293B"/>
                </a:solidFill>
              </a:defRPr>
            </a:pPr>
            <a:r>
              <a:t>✔ Chatbox AI Stylist kết nối mô hình Google Gemini LLM phản hồi nhanh.</a:t>
            </a:r>
          </a:p>
          <a:p>
            <a:pPr>
              <a:spcAft>
                <a:spcPts val="800"/>
              </a:spcAft>
              <a:defRPr sz="1050">
                <a:solidFill>
                  <a:srgbClr val="1E293B"/>
                </a:solidFill>
              </a:defRPr>
            </a:pPr>
            <a:r>
              <a:t>✔ Cá nhân hóa theo số đo Chiều cao/Cân nặng để tư vấn size chuẩn xác.</a:t>
            </a:r>
          </a:p>
          <a:p>
            <a:pPr>
              <a:spcAft>
                <a:spcPts val="800"/>
              </a:spcAft>
              <a:defRPr sz="1050">
                <a:solidFill>
                  <a:srgbClr val="1E293B"/>
                </a:solidFill>
              </a:defRPr>
            </a:pPr>
            <a:r>
              <a:t>✔ Đọc lịch sử tìm kiếm &amp; đơn cũ để gợi ý phối chéo với tủ đồ có sẵn.</a:t>
            </a:r>
          </a:p>
          <a:p>
            <a:pPr>
              <a:spcAft>
                <a:spcPts val="800"/>
              </a:spcAft>
              <a:defRPr sz="1050">
                <a:solidFill>
                  <a:srgbClr val="1E293B"/>
                </a:solidFill>
              </a:defRPr>
            </a:pPr>
            <a:r>
              <a:t>✔ Thẻ Combo Mua Sắm: Tự động ghép 1 Áo + 1 Quần có ảnh thật, giá tiền, nút 'Thêm giỏ' và 'Mua ngay' 1-chạm.</a:t>
            </a:r>
          </a:p>
        </p:txBody>
      </p:sp>
      <p:pic>
        <p:nvPicPr>
          <p:cNvPr id="8" name="Picture 7" descr="shot_05_styli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5544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563EB"/>
                </a:solidFill>
              </a:defRPr>
            </a:pPr>
            <a:r>
              <a:t>MÀN HÌNH 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F172A"/>
                </a:solidFill>
              </a:defRPr>
            </a:pPr>
            <a:r>
              <a:t>Phòng Thử Đồ 3D (Virtual Try-On WebGL)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9728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64748B"/>
                </a:solidFill>
              </a:defRPr>
            </a:pPr>
            <a:r>
              <a:t>Ướm trang phục trực quan trên trình duyệt Web không cần cài cắm app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54480"/>
            <a:ext cx="4114800" cy="48463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737360"/>
            <a:ext cx="3749039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200" b="1">
                <a:solidFill>
                  <a:srgbClr val="2563EB"/>
                </a:solidFill>
              </a:defRPr>
            </a:pPr>
            <a:r>
              <a:t>CÁC ĐIỂM NỔI BẬT</a:t>
            </a:r>
          </a:p>
          <a:p>
            <a:pPr>
              <a:spcAft>
                <a:spcPts val="800"/>
              </a:spcAft>
              <a:defRPr sz="1050">
                <a:solidFill>
                  <a:srgbClr val="1E293B"/>
                </a:solidFill>
              </a:defRPr>
            </a:pPr>
            <a:r>
              <a:t>✔ Avatar 3D tự động co giãn theo số đo Chiều cao &amp; Cân nặng người dùng.</a:t>
            </a:r>
          </a:p>
          <a:p>
            <a:pPr>
              <a:spcAft>
                <a:spcPts val="800"/>
              </a:spcAft>
              <a:defRPr sz="1050">
                <a:solidFill>
                  <a:srgbClr val="1E293B"/>
                </a:solidFill>
              </a:defRPr>
            </a:pPr>
            <a:r>
              <a:t>✔ Chạy mượt mà trên nền tảng Three.js / WebGL, xoay 360 độ linh hoạt.</a:t>
            </a:r>
          </a:p>
          <a:p>
            <a:pPr>
              <a:spcAft>
                <a:spcPts val="800"/>
              </a:spcAft>
              <a:defRPr sz="1050">
                <a:solidFill>
                  <a:srgbClr val="1E293B"/>
                </a:solidFill>
              </a:defRPr>
            </a:pPr>
            <a:r>
              <a:t>✔ Thử các mẫu trang phục: Sơ mi Oxford, Áo thun Graphic, Quần tây đen, Váy.</a:t>
            </a:r>
          </a:p>
          <a:p>
            <a:pPr>
              <a:spcAft>
                <a:spcPts val="800"/>
              </a:spcAft>
              <a:defRPr sz="1050">
                <a:solidFill>
                  <a:srgbClr val="1E293B"/>
                </a:solidFill>
              </a:defRPr>
            </a:pPr>
            <a:r>
              <a:t>✔ Đổi màu sắc trang phục linh hoạt theo các phiên bản màu sẵn có trong kho.</a:t>
            </a:r>
          </a:p>
        </p:txBody>
      </p:sp>
      <p:pic>
        <p:nvPicPr>
          <p:cNvPr id="8" name="Picture 7" descr="shot_04_try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5544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563EB"/>
                </a:solidFill>
              </a:defRPr>
            </a:pPr>
            <a:r>
              <a:t>MÀN HÌNH 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F172A"/>
                </a:solidFill>
              </a:defRPr>
            </a:pPr>
            <a:r>
              <a:t>Dashboard Quản Trị Đơn Hàng Admin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9728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64748B"/>
                </a:solidFill>
              </a:defRPr>
            </a:pPr>
            <a:r>
              <a:t>Theo dõi tình trạng đơn hàng toàn hệ thống và điều phối giao vận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54480"/>
            <a:ext cx="4114800" cy="48463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737360"/>
            <a:ext cx="3749039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200" b="1">
                <a:solidFill>
                  <a:srgbClr val="2563EB"/>
                </a:solidFill>
              </a:defRPr>
            </a:pPr>
            <a:r>
              <a:t>CÁC ĐIỂM NỔI BẬT</a:t>
            </a:r>
          </a:p>
          <a:p>
            <a:pPr>
              <a:spcAft>
                <a:spcPts val="800"/>
              </a:spcAft>
              <a:defRPr sz="1050">
                <a:solidFill>
                  <a:srgbClr val="1E293B"/>
                </a:solidFill>
              </a:defRPr>
            </a:pPr>
            <a:r>
              <a:t>✔ Dashboard Admin: Quản lý danh sách đơn hàng đã đặt của khách.</a:t>
            </a:r>
          </a:p>
          <a:p>
            <a:pPr>
              <a:spcAft>
                <a:spcPts val="800"/>
              </a:spcAft>
              <a:defRPr sz="1050">
                <a:solidFill>
                  <a:srgbClr val="1E293B"/>
                </a:solidFill>
              </a:defRPr>
            </a:pPr>
            <a:r>
              <a:t>✔ Xem chi tiết sản phẩm, số đo khách hàng, số điện thoại và địa chỉ giao hàng.</a:t>
            </a:r>
          </a:p>
          <a:p>
            <a:pPr>
              <a:spcAft>
                <a:spcPts val="800"/>
              </a:spcAft>
              <a:defRPr sz="1050">
                <a:solidFill>
                  <a:srgbClr val="1E293B"/>
                </a:solidFill>
              </a:defRPr>
            </a:pPr>
            <a:r>
              <a:t>✔ Nút duyệt đơn chuyển trạng thái sang Chuẩn bị đóng gói.</a:t>
            </a:r>
          </a:p>
          <a:p>
            <a:pPr>
              <a:spcAft>
                <a:spcPts val="800"/>
              </a:spcAft>
              <a:defRPr sz="1050">
                <a:solidFill>
                  <a:srgbClr val="1E293B"/>
                </a:solidFill>
              </a:defRPr>
            </a:pPr>
            <a:r>
              <a:t>✔ Nút 'Tạo vận đơn GHN': Gọi API bưu điện Giao Hàng Nhanh sinh mã bưu cục thật.</a:t>
            </a:r>
          </a:p>
        </p:txBody>
      </p:sp>
      <p:pic>
        <p:nvPicPr>
          <p:cNvPr id="8" name="Picture 7" descr="shot_06_adm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5544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563EB"/>
                </a:solidFill>
              </a:defRPr>
            </a:pPr>
            <a:r>
              <a:t>MÀN HÌNH 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F172A"/>
                </a:solidFill>
              </a:defRPr>
            </a:pPr>
            <a:r>
              <a:t>Bưu Cục Giao Hàng Nhanh Thật (5sao.ghn.dev)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9728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64748B"/>
                </a:solidFill>
              </a:defRPr>
            </a:pPr>
            <a:r>
              <a:t>Đơn hàng được đồng bộ tự động lên cổng bưu tá chính thức của GHN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54480"/>
            <a:ext cx="4114800" cy="48463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737360"/>
            <a:ext cx="3749039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200" b="1">
                <a:solidFill>
                  <a:srgbClr val="2563EB"/>
                </a:solidFill>
              </a:defRPr>
            </a:pPr>
            <a:r>
              <a:t>CÁC ĐIỂM NỔI BẬT</a:t>
            </a:r>
          </a:p>
          <a:p>
            <a:pPr>
              <a:spcAft>
                <a:spcPts val="800"/>
              </a:spcAft>
              <a:defRPr sz="1050">
                <a:solidFill>
                  <a:srgbClr val="1E293B"/>
                </a:solidFill>
              </a:defRPr>
            </a:pPr>
            <a:r>
              <a:t>✔ Kết nối API GHN Sandbox thực tế với Shop ID chính thức: 233442.</a:t>
            </a:r>
          </a:p>
          <a:p>
            <a:pPr>
              <a:spcAft>
                <a:spcPts val="800"/>
              </a:spcAft>
              <a:defRPr sz="1050">
                <a:solidFill>
                  <a:srgbClr val="1E293B"/>
                </a:solidFill>
              </a:defRPr>
            </a:pPr>
            <a:r>
              <a:t>✔ Tự động tính cước vận chuyển chuẩn bưu điện và khớp tiền thu hộ COD.</a:t>
            </a:r>
          </a:p>
          <a:p>
            <a:pPr>
              <a:spcAft>
                <a:spcPts val="800"/>
              </a:spcAft>
              <a:defRPr sz="1050">
                <a:solidFill>
                  <a:srgbClr val="1E293B"/>
                </a:solidFill>
              </a:defRPr>
            </a:pPr>
            <a:r>
              <a:t>✔ Đơn hàng hiển thị ngay lập tức trên hệ thống điều phối bưu tá GHN.</a:t>
            </a:r>
          </a:p>
          <a:p>
            <a:pPr>
              <a:spcAft>
                <a:spcPts val="800"/>
              </a:spcAft>
              <a:defRPr sz="1050">
                <a:solidFill>
                  <a:srgbClr val="1E293B"/>
                </a:solidFill>
              </a:defRPr>
            </a:pPr>
            <a:r>
              <a:t>✔ Mã vận đơn chính thức (VD: LYQGW4) cập nhật xuyên suốt cho khách tra cứu.</a:t>
            </a:r>
          </a:p>
        </p:txBody>
      </p:sp>
      <p:pic>
        <p:nvPicPr>
          <p:cNvPr id="8" name="Picture 7" descr="shot_07_ghn_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5544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563EB"/>
                </a:solidFill>
              </a:defRPr>
            </a:pPr>
            <a:r>
              <a:t>MÀN HÌNH 08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F172A"/>
                </a:solidFill>
              </a:defRPr>
            </a:pPr>
            <a:r>
              <a:t>Phiếu In Giao Hàng Bưu Điện Khổ A4/A5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9728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64748B"/>
                </a:solidFill>
              </a:defRPr>
            </a:pPr>
            <a:r>
              <a:t>Tự động sinh mã vạch Barcode SVG, ô tiền COD nổi bật để dán thùng hàng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54480"/>
            <a:ext cx="4114800" cy="48463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737360"/>
            <a:ext cx="3749039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200" b="1">
                <a:solidFill>
                  <a:srgbClr val="2563EB"/>
                </a:solidFill>
              </a:defRPr>
            </a:pPr>
            <a:r>
              <a:t>CÁC ĐIỂM NỔI BẬT</a:t>
            </a:r>
          </a:p>
          <a:p>
            <a:pPr>
              <a:spcAft>
                <a:spcPts val="800"/>
              </a:spcAft>
              <a:defRPr sz="1050">
                <a:solidFill>
                  <a:srgbClr val="1E293B"/>
                </a:solidFill>
              </a:defRPr>
            </a:pPr>
            <a:r>
              <a:t>✔ 1-Click bấm 'In phiếu giao hàng / Xuất PDF' ngay trên giao diện đơn hàng.</a:t>
            </a:r>
          </a:p>
          <a:p>
            <a:pPr>
              <a:spcAft>
                <a:spcPts val="800"/>
              </a:spcAft>
              <a:defRPr sz="1050">
                <a:solidFill>
                  <a:srgbClr val="1E293B"/>
                </a:solidFill>
              </a:defRPr>
            </a:pPr>
            <a:r>
              <a:t>✔ Mẫu in chuẩn bưu điện: Thông tin shop gửi, thông tin người nhận rõ ràng.</a:t>
            </a:r>
          </a:p>
          <a:p>
            <a:pPr>
              <a:spcAft>
                <a:spcPts val="800"/>
              </a:spcAft>
              <a:defRPr sz="1050">
                <a:solidFill>
                  <a:srgbClr val="1E293B"/>
                </a:solidFill>
              </a:defRPr>
            </a:pPr>
            <a:r>
              <a:t>✔ Mã vạch Barcode SVG sắc nét phục vụ máy quét bưu cục khi lấy hàng.</a:t>
            </a:r>
          </a:p>
          <a:p>
            <a:pPr>
              <a:spcAft>
                <a:spcPts val="800"/>
              </a:spcAft>
              <a:defRPr sz="1050">
                <a:solidFill>
                  <a:srgbClr val="1E293B"/>
                </a:solidFill>
              </a:defRPr>
            </a:pPr>
            <a:r>
              <a:t>✔ Khung tiền thu hộ COD nổi bật và chữ ký bàn giao chuẩn quy cách.</a:t>
            </a:r>
          </a:p>
        </p:txBody>
      </p:sp>
      <p:pic>
        <p:nvPicPr>
          <p:cNvPr id="8" name="Picture 7" descr="shot_08_ghn_print_sli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5544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563EB"/>
                </a:solidFill>
              </a:defRPr>
            </a:pPr>
            <a:r>
              <a:t>TỔNG KẾT PHẦN MỀM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F172A"/>
                </a:solidFill>
              </a:defRPr>
            </a:pPr>
            <a:r>
              <a:t>Tiến Độ Tính Năng: Đã Xong &amp; Đang Triển Khai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9728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64748B"/>
                </a:solidFill>
              </a:defRPr>
            </a:pPr>
            <a:r>
              <a:t>Báo cáo rõ ràng các phần đã vận hành tốt và các tính năng còn đang hoàn thiện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120640" cy="47548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28800"/>
            <a:ext cx="47548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300" b="1">
                <a:solidFill>
                  <a:srgbClr val="16A34A"/>
                </a:solidFill>
              </a:defRPr>
            </a:pPr>
            <a:r>
              <a:t>TÍNH NĂNG ĐÃ VẬN HÀNH TỐT (XONG)</a:t>
            </a:r>
          </a:p>
          <a:p>
            <a:pPr>
              <a:spcAft>
                <a:spcPts val="600"/>
              </a:spcAft>
              <a:defRPr sz="1050">
                <a:solidFill>
                  <a:srgbClr val="1E293B"/>
                </a:solidFill>
              </a:defRPr>
            </a:pPr>
            <a:r>
              <a:t>✔ Cửa hàng TMĐT: Duyệt 55 sản phẩm, giỏ hàng, đặt hàng COD, khóa chống trùng đơn.</a:t>
            </a:r>
          </a:p>
          <a:p>
            <a:pPr>
              <a:spcAft>
                <a:spcPts val="600"/>
              </a:spcAft>
              <a:defRPr sz="1050">
                <a:solidFill>
                  <a:srgbClr val="1E293B"/>
                </a:solidFill>
              </a:defRPr>
            </a:pPr>
            <a:r>
              <a:t>✔ Trợ lý AI Stylist: Tư vấn vóc dáng, cá nhân hóa theo tìm kiếm &amp; đơn cũ.</a:t>
            </a:r>
          </a:p>
          <a:p>
            <a:pPr>
              <a:spcAft>
                <a:spcPts val="600"/>
              </a:spcAft>
              <a:defRPr sz="1050">
                <a:solidFill>
                  <a:srgbClr val="1E293B"/>
                </a:solidFill>
              </a:defRPr>
            </a:pPr>
            <a:r>
              <a:t>✔ Thẻ Combo Mua Sắm: Gợi ý 1 Áo + 1 Quần kèm nút Mua ngay 1-chạm.</a:t>
            </a:r>
          </a:p>
          <a:p>
            <a:pPr>
              <a:spcAft>
                <a:spcPts val="600"/>
              </a:spcAft>
              <a:defRPr sz="1050">
                <a:solidFill>
                  <a:srgbClr val="1E293B"/>
                </a:solidFill>
              </a:defRPr>
            </a:pPr>
            <a:r>
              <a:t>✔ Phòng thử đồ 3D: Avatar co giãn theo số đo, xoay 360 độ, đổi màu sắc trang phục.</a:t>
            </a:r>
          </a:p>
          <a:p>
            <a:pPr>
              <a:spcAft>
                <a:spcPts val="600"/>
              </a:spcAft>
              <a:defRPr sz="1050">
                <a:solidFill>
                  <a:srgbClr val="1E293B"/>
                </a:solidFill>
              </a:defRPr>
            </a:pPr>
            <a:r>
              <a:t>✔ Quản trị Admin &amp; GHN: Tạo mã vận đơn bưu điện thật, in phiếu giao hàng A4/A5.</a:t>
            </a:r>
          </a:p>
          <a:p>
            <a:pPr>
              <a:spcAft>
                <a:spcPts val="600"/>
              </a:spcAft>
              <a:defRPr sz="1050">
                <a:solidFill>
                  <a:srgbClr val="1E293B"/>
                </a:solidFill>
              </a:defRPr>
            </a:pPr>
            <a:r>
              <a:t>✔ Bộ kiểm thử tự động: 78 pytest, 60 node test, 70 vitest pass 100%.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0" y="1645920"/>
            <a:ext cx="5303520" cy="47548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09360" y="1828800"/>
            <a:ext cx="49377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300" b="1">
                <a:solidFill>
                  <a:srgbClr val="D97706"/>
                </a:solidFill>
              </a:defRPr>
            </a:pPr>
            <a:r>
              <a:t>TÍNH NĂNG CHƯA XONG / ĐANG LÀM</a:t>
            </a:r>
          </a:p>
          <a:p>
            <a:pPr>
              <a:spcAft>
                <a:spcPts val="1000"/>
              </a:spcAft>
              <a:defRPr sz="1100">
                <a:solidFill>
                  <a:srgbClr val="1E293B"/>
                </a:solidFill>
              </a:defRPr>
            </a:pPr>
            <a:r>
              <a:t>⏳ Cổng thanh toán Chuyển khoản tự động: Hiện mới hỗ trợ thanh toán khi nhận hàng (COD), chưa tích hợp xong cổng đối soát tiền chuyển khoản qua ngân hàng.</a:t>
            </a:r>
          </a:p>
          <a:p>
            <a:pPr>
              <a:spcAft>
                <a:spcPts val="1000"/>
              </a:spcAft>
              <a:defRPr sz="1100">
                <a:solidFill>
                  <a:srgbClr val="1E293B"/>
                </a:solidFill>
              </a:defRPr>
            </a:pPr>
            <a:r>
              <a:t>⏳ Thử đồ thời gian thực qua Webcam: Tính năng ướm thử trang phục trực tiếp qua camera máy tính/điện thoại người dùng đang trong giai đoạn nghiên cứu.</a:t>
            </a:r>
          </a:p>
          <a:p>
            <a:pPr>
              <a:spcAft>
                <a:spcPts val="1000"/>
              </a:spcAft>
              <a:defRPr sz="1100">
                <a:solidFill>
                  <a:srgbClr val="1E293B"/>
                </a:solidFill>
              </a:defRPr>
            </a:pPr>
            <a:r>
              <a:t>⏳ Tinh chỉnh hiển thị phòng 3D: Cần hoàn thiện thêm độ khớp của phom đồ 3D và tối ưu hiệu năng hiển thị trên thiết bị di động (Mobile WebGL).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