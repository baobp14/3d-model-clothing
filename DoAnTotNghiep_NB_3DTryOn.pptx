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59669"/>
                </a:solidFill>
              </a:defRPr>
            </a:pPr>
            <a:r>
              <a:t>BÁO CÁO ĐỒ ÁN TỐT NGHIỆP ĐẠI HỌC • CHUYÊN NGÀNH CÔNG NGHỆ THÔNG TIN</a:t>
            </a:r>
          </a:p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HỆ THỐNG THƯƠNG MẠI ĐIỆN TỬ THỜI TRANG TÍCH HỢP</a:t>
            </a:r>
            <a:br/>
            <a:r>
              <a:t>PHÒNG THỬ ĐỒ 3D &amp; MÔ PHỎNG VẢI VẬT LÝ THỜI GIAN THỰC</a:t>
            </a:r>
          </a:p>
          <a:p>
            <a:pPr>
              <a:spcAft>
                <a:spcPts val="2800"/>
              </a:spcAft>
              <a:defRPr sz="1250">
                <a:solidFill>
                  <a:srgbClr val="94A3B8"/>
                </a:solidFill>
              </a:defRPr>
            </a:pPr>
            <a:r>
              <a:t>Nền tảng mua sắm N&amp;B Fashion: Tối ưu hóa kích cỡ chuẩn nhân trắc học, mô phỏng rủ vải Position-Based Dynamics (PBD) và kết nối giỏ hàng thông minh trực tiếp từ 3D.</a:t>
            </a:r>
          </a:p>
          <a:p>
            <a:pPr>
              <a:defRPr sz="1100">
                <a:solidFill>
                  <a:srgbClr val="0284C7"/>
                </a:solidFill>
              </a:defRPr>
            </a:pPr>
            <a:r>
              <a:t>Học kỳ: Khóa luận Tốt nghiệp 2026   |   Công nghệ: React, Vite, Three.js, WebGL, FastAPI, Python, PostgreSQL 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01. BỐI CẢNH &amp; THỰC TRẠNG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Đặt Vấn Đề: Rào Cản Kích Cỡ Trong TMĐT Thời Trang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Tại sao ngành thời trang trực tuyến cần một cuộc cách mạng về trải nghiệm thử đồ số?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Tỷ lệ hoàn trả hàng kỷ lục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VẤN ĐỀ VẬN HÀNH DOANH NGHIỆP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Tỷ lệ hoàn hàng (return rate) trong TMĐT thời trang chiếm tới 30% - 40%, cao gấp 3 lần hàng điện tử.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72% lý do hoàn trả xuất phát từ việc sai lệch kích cỡ (size misfit) hoặc không ưng ý phom dáng thực tế.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Gây lãng phí khổng lồ chi phí vận chuyển 2 chiều và quản trị kho vận cho doanh nghiệp.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Bảng size truyền thống thất bại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RÀO CẢN TÂM LÝ NGƯỜI MUA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Bảng size 2D (S, M, L, XL) mang tính quy ước tĩnh và khác biệt lớn giữa các thương hiệu (Uniqlo, Zara, AS Colour...).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Khách hàng không biết số đo cơ thể của mình (vòng ngực, vòng eo) hoặc không mang thước dây khi mua sắm online.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Hình ảnh người mẫu studio tĩnh được chỉnh sửa photoshop hoàn hảo, không phản ánh vóc dáng người mua thực tế.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Giải pháp 3D trước đây chưa tới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HẠN CHẾ CÔNG NGHỆ CŨ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Các ứng dụng 3D truyền thống đòi hỏi phần cứng đắt đỏ, tải file cồng kềnh (hàng chục MB) làm đơ trình duyệt.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Không có mô phỏng vật lý thực: quần áo chỉ là vỏ bọc dán tĩnh, không thấy được độ rủ hay độ căng chật.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Thiếu gắn kết thương mại: phòng thử 3D tách rời giỏ hàng, khách thử xong không mua được ngay.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02. MỤC TIÊU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Giải Pháp Đột Phá: Nền Tảng N&amp;B Virtual Try-On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Hệ sinh thái kết hợp hoàn hảo giữa Nền tảng TMĐT chuẩn hóa và Phòng thử đồ 3D tương tác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Nền tảng E-Commerce Toàn Diện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NỀN TẢNG THƯƠNG MẠI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Cửa hàng trực tuyến chuẩn mực: Catalog, Tìm kiếm nâng cao, Bộ lọc giá/kích cỡ, Phân trang tối ưu.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Kiểm soát kho hàng 2 lớp (Inventory Layers) đồng thời chống oversell tuyệt đối.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Thanh toán an toàn, Hóa đơn VAT chuẩn quy cách, Tích hợp đơn vị vận chuyển.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Phòng Thử Đồ 3D WebGL Siêu Nhẹ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CÔNG NGHỆ 3D WEBGL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Chạy trực tiếp trên trình duyệt Web (Chrome, Safari, Edge), không cần cài cắm extension hay app.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Tương tác xoay 360 độ mượt mà 60 FPS, chiếu sáng Studio Runway chuyên nghiệp.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Tự động cá nhân hóa avatar theo Chiều cao &amp; Cân nặng của khách hàng chỉ trong 1 giây.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Mô Phỏng Vải Vật Lý Thời Gian Thực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VẬT LÝ SỢI VẢI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Ứng dụng thuật toán Position-Based Dynamics (PBD) giải phương trình chuyển động từng mắt lưới vải.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Mô phỏng chân thực độ rủ, độ giãn (fabric stretch) và phom dáng của cotton, knit rib, oxford và denim.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Thẻ đánh giá độ vừa (Fit Assessment): Tự động đo chênh lệch độ dư cử động (Ease) để báo Vừa/Chật/Rộng.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605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2511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Kết Nối Thương Mại Trực Tiếp (1-Click)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TỐI ƯU CHUYỂN ĐỔI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Nút Thêm Combo vào giỏ hàng ngay từ phòng thử 3D: Mua cả áo và quần đã khớp size cùng lúc.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Huy hiệu độc quyền 'Đã thử 3D · Vừa vặn' gắn xuyên suốt từ Giỏ hàng tới trang Thanh toán.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Tạo niềm tin tuyệt đối cho khách hàng, tối ưu hóa tỷ lệ chuyển đổi đơn hàng (CR).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03. KIẾN TRÚC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Kiến Trúc Hệ Thống Tổng Thể (System Architecture)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Mô hình Client-Server hiện đại, tách biệt vi dịch vụ, mở rộng linh hoạt và bảo mật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Client (Frontend Web)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TẦNG TRÌNH DIỄN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Framework: React 18, Vite Bundler, Tailwind CSS v4.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Đồ họa 3D: Three.js, React Three Fiber (@react-three/fiber, @react-three/drei).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Quản lý trạng thái: Context API, Custom Hooks (useCart, useAuth, useCatalog, useMeasurements).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Giao tiếp API: Fetch API, Bearer Token Auth, Tự động hủy yêu cầu trễ (AbortSignal).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Server (Backend API)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TẦNG NGHIỆP VỤ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Framework: FastAPI (Python 3.11) hiệu năng cao chuẩn Asynchronous ASGI.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Xử lý dữ liệu: Pydantic Schema Validation, SQLAlchemy Core ORM.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Logic nghiệp vụ: Quản lý kho 2 lớp, Chống đặt trùng đơn Idempotent, Tính thuế và mã giảm giá.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Tài nguyên tĩnh: Vite Asset Caching middleware hỗ trợ streaming GLB và WebP.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Database &amp; Pipeline 3D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TẦNG DỮ LIỆU &amp; ASSETS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Cơ sở dữ liệu: Supabase PostgreSQL đám mây với Row-Level Security (RLS) bảo vệ dữ liệu.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Transact SQL RPCs: Đảm bảo tính toàn vẹn ACID khi trừ tồn kho và tạo đơn hàng đồng thời.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Pipeline 3D: Bộ giải MakeHuman Body Rig, Trích xuất ma trận xương và Morph Deltas.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Assets: 118 họa tiết áo quần WebP nén tối ưu.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04. ĐỘT PHÁ CÔNG NGHỆ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Động Cơ Nhân Trắc Học &amp; Khung Xương 3D Cá Nhân Hóa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Mô hình hóa hình thái cơ thể người chính xác theo giải phẫu học, triệt tiêu lỗi biến dạng 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Ước Tính Nhân Trắc Học Giải Phẫu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ANTHROPOMETRIC DERIVATION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Khách hàng chỉ cần nhập Chiều cao &amp; Cân nặng $\rightarrow$ Hệ phương trình hồi quy giải phẫu suy diễn tự động Vòng ngực, Vòng eo, Vòng mông và Rộng vai.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Loại bỏ hoàn toàn rào cản 'phải có thước dây đo người' của các ứng dụng 3D cũ.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Chốt Chặn An Toàn (Safe Clamping)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INVERSION PROTECTION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Phát hiện &amp; xử lý nguyên nhân gốc rễ: Khung xương MakeHuman có authored limit [-1.0, 1.0]. Khi ép ngực xuống 80cm làm trục ngực âm -1.31, lõm xương ức 2.5cm.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Thiết lập bộ chặn ngưỡng an toàn (minChest = 84cm cho nam, 76cm cho nữ), bảo đảm topology 3D luôn là đa diện đóng (manifold 100%).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Bộ Người Mẫu Chuẩn (Fit Model Mapping)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CALIBRATED FIT MODELS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Áp dụng chuẩn công nghiệp như ASOS, Uniqlo, Zozotown: Tự động ánh xạ số đo vào các người mẫu chuẩn đã hiệu chỉnh.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Nam giới: Profile A (Thon gọn 165cm/58kg), Profile B (Chuẩn 175cm/68kg), Profile C (Đầy đặn 185cm/82kg).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Nữ giới: F1 (Thon gọn), F2 (Chuẩn), F3 (Đầy đặn).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605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2511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Thẻ Đánh Giá Độ Vừa Cá Nhân Hóa (Fit Card)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PERSONALIZED FIT CARD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So sánh số đo vòng áo/quần trực tiếp với số đo thực của khách: Ease = Chu vi áo - Chu vi thực.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Thẻ hiển thị Xanh Lá (✓ Vừa vặn hoàn hảo) kèm thông tin: 'Vòng ngực của bạn 80.2cm · Vòng áo 92cm (+11.8cm)'.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Chính xác tuyệt đối, không còn bị báo đỏ vô lý.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05. ĐỘT PHÁ CÔNG NGHỆ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Mô Phỏng Vải Vật Lý Bằng Position-Based Dynamics (PBD)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Tái tạo chuyển động và phom dáng buông rủ tự nhiên của trang phục ở 60 khung hình/giây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Tích Phân Verlet 60 FPS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VERLET INTEGRATION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Cập nhật tọa độ hạt vải trực tiếp qua vị trí: $x_{t+dt} = x_t + v_t \cdot dt + a \cdot dt^2$.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Tránh được hiện tượng mất ổn định số (numerical instability) của phương pháp lực cổ điển Euler.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Tích hợp trọng lực $g = 9.81 m/s^2$ và hệ số cản không khí (damping) để vải có quán tính mềm mại.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Hệ Thống Ràng Buộc (Constraints)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PHYSICAL CONSTRAINTS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Distance Constraints: Bảo toàn khoảng cách giữa các sợi dệt dọc và dệt ngang, chống rách vải.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Bending Constraints: Kiểm soát độ uốn cong và nếp gấp tự nhiên của từng loại vải.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Fabric Stretch Cap: Giới hạn độ giãn trần nghiêm ngặt, ngăn chặn vải bị chảy xệ dị dạng khi tiếp xúc bề mặt cơ thể.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Thư Viện Cơ Học Vải Đa Dạng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FABRIC MECHANICAL PRESETS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Cotton / Knit Rib (Áo thun): Độ giãn vừa phải, buông rủ mềm mại quanh lồng ngực.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Oxford Weave (Sơ mi): Đứng dáng, cổ áo và nẹp khuy có độ cứng cơ học không bị đổ rạp.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Denim / Khaki (Quần jeans): Độ cứng cao, ôm hông tự nhiên, phom ống quần suôn phẳng.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06. ĐỘT PHÁ CÔNG NGHỆ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Phân Tầng Trang Phục (Layering) &amp; Khử Clipping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Xử lý triệt để hiện tượng áo quần đâm xuyên và giằng xé mặt phẳng (Z-Fighting)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Khoảng Hở Vật Lý (Ease Separation)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PHYSICAL SEPARATION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Nguyên nhân cũ: Cả áo và quần đều chạy PBD ở cùng khoảng cách da người (1.4cm), tranh chấp cùng 1 mặt phẳng.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Giải pháp: Cấu hình phân tầng độc lập: Áo ngoài (ease = 2.0cm), Quần trong (ease = 1.2cm).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Tạo khe hở không khí 8mm tự nhiên, áo luôn buông phủ bên ngoài cạp quần, không bao giờ chạm xuyên.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Chuẩn Hóa Viền Gấu (360° Hem Contour)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SMOOTH HEM CONTOUR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Nguyên nhân cũ: Lấy min toàn bộ đỉnh áo khiến 13 góc ở sườn nách bị vọt lên 1000m, tạo vết cắt thủng chéo cạp quần.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Giải pháp: Lọc chính xác vùng gấu áo thực tế (GARMENT_REGION.hem), tạo đường tròn viền phẳng 360° mịn màng.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Shader chỉ giấu phần cạp nằm sâu bên trong áo (+3.5cm an toàn), xóa sổ hoàn toàn vết cắt gãy.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Thứ Tự Render &amp; Polygon Offset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GPU DEPTH PRIORITY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Áo ngoài được gán renderOrder = 2, Quần trong renderOrder = 1.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Kích hoạt polygonOffset (factor = -2, units = -2) trên Shader vật liệu áo.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Ép GPU luôn ưu tiên vẽ lớp vải áo ra mặt trước, triệt tiêu 100% hiện tượng chớp nháy đè mặt phẳng.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07. TRẢI NGHIỆM NGƯỜI DÙNG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Hành Trình Khách Hàng Khép Kín (End-to-End Customer Journey)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Liên kết xuyên suốt từ lúc xem sản phẩm, thử đồ 3D cho đến khi thanh toán thành công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Bước 1: Chọn Đồ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GIAI ĐOẠN 01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Xem chi tiết áo/quần trên web $\rightarrow$ Bấm nút 'Thử đồ 3D'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Bước 2: Ước Tính Số Đo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GIAI ĐOẠN 02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Nhập Chiều cao / Cân nặng $\rightarrow$ Tự động khớp Avatar và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01952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Bước 3: Ngắm Phom 3D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GIAI ĐOẠN 03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Xoay 360 độ, đổi màu, đổi kiểu áo/quần, soi độ rủ và độ căng vải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Bước 4: Xem Fit Card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GIAI ĐOẠN 04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Hệ thống tính độ dư cử động (+11.8cm) $\rightarrow$ Báo 'Vừa vặn hoàn hảo'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02336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187952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Bước 5: Thêm Giỏ 1-Chạm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GIAI ĐOẠN 05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Nút 'Thêm combo vào giỏ' / 'Mua ngay' trực tiếp trong phòng 3D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02336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187952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Bước 6: Huy Hiệu &amp; Đặt Hàng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GIAI ĐOẠN 06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Huy hiệu 'Đã thử 3D · Vừa vặn' hiển thị tại Giỏ hàng &amp; Checkout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08. NGHIỆP VỤ THƯƠNG MẠI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Hệ Thống Quản Trị &amp; Nghiệp Vụ TMĐT Chuẩn Mực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Đảm bảo tính toàn vẹn dữ liệu, chống xung đột giao dịch và tuân thủ pháp lý TMĐT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Kho Hàng 2 Lớp &amp; Concurrency Lock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QUẢN LÝ TỒN KHO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Kiểm soát tồn kho theo từng biến thể (Màu x Size) kết hợp tổng tồn kho sản phẩm.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Native Locking chống mở nhiều tab checkout cùng lúc, loại bỏ hoàn toàn nguy cơ oversell khi mở bán Flash Sale.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Giao dịch nguyên tử (Atomic Database RPC) tự động rollback toàn bộ nếu có biến thể thiếu hàng.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Đặt Hàng Idempotent &amp; Chống Trùng Lặp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AN TOÀN THANH TOÁN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Cơ chế Idempotent Order Request: Khi mạng chập chờn hoặc reload trang, hệ thống tái sử dụng Order ID đang chờ thay vì tạo đơn thứ 2.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Hỗ trợ cả thanh toán COD và chuyển khoản QR Code tự động đối soát thanh toán.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Tự động tính thuế VAT 8% và xuất hóa đơn điện tử chuẩn quy định Bộ Công Thương.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Bảo Mật RLS &amp; Phân Quyền Đa Cấp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BẢO MẬT DỮ LIỆU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Supabase Row-Level Security: Khách hàng chỉ xem/sửa được đơn hàng và sổ địa chỉ của chính mình.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Tách biệt hoàn toàn giỏ hàng giữa các tài khoản và phiên đăng nhập.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Dashboard Admin chuyên sâu: Quản lý danh mục, báo cáo doanh thu, cảnh báo tồn kho thấp và quản lý đổi trả.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09. KIỂM THỬ &amp; HIỆU NĂNG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Tối Ưu Hóa Hiệu Năng &amp; Kết Quả Kiểm Thử Toàn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Thời gian khởi động cực nhanh và bảo đảm chất lượng phần mềm đạt tiêu chuẩn cao nhất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Tải Phân Đoạn Thông Minh (Giảm 65% Payload)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GIẢM TẢI MẠNG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Trước: Tải cùng lúc cả 2 avatar Nam/Nữ và 6 trang phục $\rightarrow$ Bắt tải 15MB file 3D.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Sau: Khởi đầu chỉ tải avatar giới tính đang chọn + 2 món mặc định $\rightarrow$ Giảm còn ~5MB.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Tốc độ mở phòng thử 3D nhanh gấp 3 lần. Các trang phục còn lại được tải ngầm sau 1s.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Bộ Nhớ Đệm HTTP Caching (Reload 0 Giây)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HTTP CACHE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Bổ sung Cache-Control: public, max-age=86400, stale-while-revalidate=604800 và Content-Length.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Từ lần truy cập thứ hai, toàn bộ mô hình 3D được nạp ngay từ bộ nhớ máy tính (0ms latency).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60 / 60 Node Integration Tests (PASS 100%)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INTEGRATION TESTING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Kiểm thử toàn diện logic giỏ hàng, xác thực địa chỉ, giới hạn tồn kho, chống đặt đơn trùng lặp, bảo mật SQL RLS.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Thời gian thực thi: 2.7s với 100% test case xanh lá.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6052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25112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70 / 70 Vitest UI Tests (PASS 100%)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UI COMPONENT TESTING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Kiểm thử tự động giao diện người dùng trên 15 test suites: Search, Cart, Checkout, Pagination, Orders, Measurements, AdminTools.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Bảo đảm tính bền vững của mã nguồn trước mọi thao tác của người dùng.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10. MỞ RỘNG &amp; TƯƠNG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Định Hướng Phát Triển &amp; Ứng Dụng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Các tiềm năng phát triển mở rộng công nghệ trong giai đoạn tiếp theo của dự 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Thử Đồ Qua Camera Realtime (Generative AI Try-On)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FUTURE AR EXTENSION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Bổ sung Tab 'Thử đồ qua Camera' cạnh Tab 'Mô hình 3D'.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Ứng dụng mô hình AI Diffusion / MediaPipe ước tính dáng người và ướm trang phục trực tiếp từ Webcam máy tính hoặc Camera điện thoại.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Cho phép khách hàng nhìn thấy mặt mình mặc đồ trong không gian thực.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Trợ Lý AI Stylist &amp; Combo Mua Sắm Cá Nhân Hóa Đa Chiều (Đã hoàn thiện)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COMPLETED MULTI-SIGNAL AI ENGINE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Ứng dụng mô hình ngôn ngữ lớn (LLM) phân tích tone da, chiều cao, phong cách để đề xuất outfit tối ưu.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Gợi ý phối đồ thông minh: 'Áo thun bone này phối cùng Quần jeans wash sẽ giúp bạn trông cao hơn 5cm'.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Tăng giá trị giỏ hàng trung bình (AOV - Average Order Value).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Thương Mại Hóa Thực Tế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</a:defRPr>
            </a:pPr>
            <a:r>
              <a:t>COMMERCIAL SAAS POTENTIAL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Đóng gói thành bộ giải pháp SaaS Widget (Software-as-a-Service) cho phép các thương hiệu thời trang khác nhúng vào website.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 Hỗ trợ xuất file định dạng may mặc công nghiệp (DXF / Clo3D / Browzwear) để sản xuất may đo theo yêu cầu (Made-to-Measure).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59669"/>
                </a:solidFill>
              </a:defRPr>
            </a:pPr>
            <a:r>
              <a:t>TỔNG KẾT KHÓA LUẬN TỐT NGHIỆP</a:t>
            </a:r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t>CẢM ƠN THẦY CÔ &amp; HỘI ĐỒNG PHẢN BIỆN</a:t>
            </a:r>
            <a:br/>
            <a:r>
              <a:t>ĐÃ LẮNG NGHE BÀI THUYẾT TRÌNH!</a:t>
            </a:r>
          </a:p>
          <a:p>
            <a:pPr>
              <a:spcAft>
                <a:spcPts val="2800"/>
              </a:spcAft>
              <a:defRPr sz="1250">
                <a:solidFill>
                  <a:srgbClr val="94A3B8"/>
                </a:solidFill>
              </a:defRPr>
            </a:pPr>
            <a:r>
              <a:t>Hệ thống N&amp;B Fashion đã hiện thực hóa thành công mục tiêu tích hợp phòng thử đồ 3D vật lý vào nền tảng TMĐT thực tế: Tốc độ tải nhanh, độ chính xác giải phẫu cao, phom vải buông rủ phẳng phiu và trải nghiệm mua sắm khép kín 1 chạm.</a:t>
            </a:r>
          </a:p>
          <a:p>
            <a:pPr>
              <a:defRPr sz="1400" b="1">
                <a:solidFill>
                  <a:srgbClr val="0284C7"/>
                </a:solidFill>
              </a:defRPr>
            </a:pPr>
            <a:r>
              <a:t>XIN KÍNH MỜI QUÝ THẦY CÔ VÀ HỘI ĐỒNG ĐẶT CÂU HỎI VÀ GÓP 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